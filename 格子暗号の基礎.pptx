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ca3637c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ca3637c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ccfebba4c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ccfebba4c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ccfebba4c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ccfebba4c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ccfebba4c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ccfebba4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a381b10ea9e2d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a381b10ea9e2d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a381b10ea9e2d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a381b10ea9e2d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a381b10ea9e2d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a381b10ea9e2d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a9c1c8fc4185e6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a9c1c8fc4185e6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a9c1c8fc4185e68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a9c1c8fc4185e68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a9c1c8fc4185e6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a9c1c8fc4185e6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3.jpg"/><Relationship Id="rId5"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格子暗号の基礎</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格子暗号の安全性を支えるLWE問題</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a:t>格子暗号を用いた暗号化の安全性はLWE問題の解読困難性に基づく。</a:t>
            </a:r>
            <a:endParaRPr/>
          </a:p>
          <a:p>
            <a:pPr indent="0" lvl="0" marL="0" rtl="0" algn="l">
              <a:spcBef>
                <a:spcPts val="1200"/>
              </a:spcBef>
              <a:spcAft>
                <a:spcPts val="0"/>
              </a:spcAft>
              <a:buNone/>
            </a:pPr>
            <a:r>
              <a:rPr lang="ja"/>
              <a:t>b ≡ As + e (mod q)</a:t>
            </a:r>
            <a:endParaRPr/>
          </a:p>
          <a:p>
            <a:pPr indent="0" lvl="0" marL="0" rtl="0" algn="l">
              <a:spcBef>
                <a:spcPts val="1200"/>
              </a:spcBef>
              <a:spcAft>
                <a:spcPts val="0"/>
              </a:spcAft>
              <a:buNone/>
            </a:pPr>
            <a:r>
              <a:rPr lang="ja"/>
              <a:t>ここのノイズeは正規分布に従う。</a:t>
            </a:r>
            <a:endParaRPr/>
          </a:p>
          <a:p>
            <a:pPr indent="0" lvl="0" marL="0" rtl="0" algn="l">
              <a:spcBef>
                <a:spcPts val="1200"/>
              </a:spcBef>
              <a:spcAft>
                <a:spcPts val="0"/>
              </a:spcAft>
              <a:buNone/>
            </a:pPr>
            <a:r>
              <a:rPr lang="ja"/>
              <a:t>（単回帰モデルの誤差項εと同じ。）</a:t>
            </a:r>
            <a:endParaRPr/>
          </a:p>
          <a:p>
            <a:pPr indent="0" lvl="0" marL="0" rtl="0" algn="l">
              <a:spcBef>
                <a:spcPts val="1200"/>
              </a:spcBef>
              <a:spcAft>
                <a:spcPts val="0"/>
              </a:spcAft>
              <a:buNone/>
            </a:pPr>
            <a:r>
              <a:rPr lang="ja"/>
              <a:t>大量の『誤差（ノイズ）付き』連立一次方程式から、</a:t>
            </a:r>
            <a:endParaRPr/>
          </a:p>
          <a:p>
            <a:pPr indent="0" lvl="0" marL="0" rtl="0" algn="l">
              <a:spcBef>
                <a:spcPts val="1200"/>
              </a:spcBef>
              <a:spcAft>
                <a:spcPts val="0"/>
              </a:spcAft>
              <a:buNone/>
            </a:pPr>
            <a:r>
              <a:rPr lang="ja"/>
              <a:t>共通の変数（秘密鍵）を当てる問題。</a:t>
            </a:r>
            <a:endParaRPr/>
          </a:p>
          <a:p>
            <a:pPr indent="0" lvl="0" marL="0" rtl="0" algn="l">
              <a:spcBef>
                <a:spcPts val="1200"/>
              </a:spcBef>
              <a:spcAft>
                <a:spcPts val="0"/>
              </a:spcAft>
              <a:buNone/>
            </a:pPr>
            <a:r>
              <a:rPr lang="ja"/>
              <a:t>これの困難性が格子暗号を支えている。</a:t>
            </a:r>
            <a:endParaRPr/>
          </a:p>
          <a:p>
            <a:pPr indent="0" lvl="0" marL="0" rtl="0" algn="l">
              <a:spcBef>
                <a:spcPts val="1200"/>
              </a:spcBef>
              <a:spcAft>
                <a:spcPts val="1200"/>
              </a:spcAft>
              <a:buNone/>
            </a:pPr>
            <a:r>
              <a:rPr lang="ja"/>
              <a:t>誤差がなければガウスの消去法（掃き出し法）で簡単に解読可能</a:t>
            </a:r>
            <a:endParaRPr/>
          </a:p>
        </p:txBody>
      </p:sp>
      <p:pic>
        <p:nvPicPr>
          <p:cNvPr id="62" name="Google Shape;62;p14"/>
          <p:cNvPicPr preferRelativeResize="0"/>
          <p:nvPr/>
        </p:nvPicPr>
        <p:blipFill rotWithShape="1">
          <a:blip r:embed="rId3">
            <a:alphaModFix/>
          </a:blip>
          <a:srcRect b="36344" l="0" r="0" t="18548"/>
          <a:stretch/>
        </p:blipFill>
        <p:spPr>
          <a:xfrm>
            <a:off x="5887684" y="1552233"/>
            <a:ext cx="2748100" cy="26168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LWE問題</a:t>
            </a:r>
            <a:r>
              <a:rPr lang="ja"/>
              <a:t>の根底にあるSVP問題</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LWE問題の根底にある</a:t>
            </a:r>
            <a:r>
              <a:rPr lang="ja"/>
              <a:t>CVP</a:t>
            </a:r>
            <a:r>
              <a:rPr lang="ja"/>
              <a:t>問題</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格子署名の安全性を支えるSIS問題</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ja"/>
              <a:t>格子暗号を用いた署名の安全性はSIS問題の解読困難性に基づく。</a:t>
            </a:r>
            <a:endParaRPr/>
          </a:p>
          <a:p>
            <a:pPr indent="0" lvl="0" marL="0" rtl="0" algn="l">
              <a:spcBef>
                <a:spcPts val="1200"/>
              </a:spcBef>
              <a:spcAft>
                <a:spcPts val="0"/>
              </a:spcAft>
              <a:buNone/>
            </a:pPr>
            <a:r>
              <a:rPr lang="ja"/>
              <a:t>Az ≡ 0 (mod q)となるz、それも全ての要素が小さい（零ベクトルは除く）</a:t>
            </a:r>
            <a:endParaRPr/>
          </a:p>
          <a:p>
            <a:pPr indent="0" lvl="0" marL="0" rtl="0" algn="l">
              <a:spcBef>
                <a:spcPts val="1200"/>
              </a:spcBef>
              <a:spcAft>
                <a:spcPts val="0"/>
              </a:spcAft>
              <a:buNone/>
            </a:pPr>
            <a:r>
              <a:rPr lang="ja"/>
              <a:t>ランク1（列ベクトルが1個）という制約つきの</a:t>
            </a:r>
            <a:br>
              <a:rPr lang="ja"/>
            </a:br>
            <a:r>
              <a:rPr lang="ja"/>
              <a:t>ベクトルを見つけることの困難性に基づく。</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右</a:t>
            </a:r>
            <a:r>
              <a:rPr lang="ja"/>
              <a:t>の例だと、zをが{-1, 0, 1}の3要素縛り</a:t>
            </a:r>
            <a:br>
              <a:rPr lang="ja"/>
            </a:br>
            <a:r>
              <a:rPr lang="ja"/>
              <a:t>でAの列数2なので2乗して3^2の9通り。</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仮にzは-1、0、1の要素しか取れないとしたら、</a:t>
            </a:r>
            <a:br>
              <a:rPr lang="ja"/>
            </a:br>
            <a:r>
              <a:rPr lang="ja"/>
              <a:t>総数は3^256となりめちゃ大きい。</a:t>
            </a:r>
            <a:br>
              <a:rPr lang="ja"/>
            </a:br>
            <a:r>
              <a:rPr lang="ja"/>
              <a:t>（Aは512×256の行列で、zは256×1になるため。）</a:t>
            </a:r>
            <a:endParaRPr/>
          </a:p>
          <a:p>
            <a:pPr indent="0" lvl="0" marL="0" rtl="0" algn="l">
              <a:spcBef>
                <a:spcPts val="1200"/>
              </a:spcBef>
              <a:spcAft>
                <a:spcPts val="1200"/>
              </a:spcAft>
              <a:buNone/>
            </a:pPr>
            <a:r>
              <a:rPr lang="ja"/>
              <a:t>すべての要素が小さいという制約</a:t>
            </a:r>
            <a:br>
              <a:rPr lang="ja"/>
            </a:br>
            <a:r>
              <a:rPr lang="ja"/>
              <a:t>→SVP問題が関連。</a:t>
            </a:r>
            <a:br>
              <a:rPr lang="ja"/>
            </a:br>
            <a:r>
              <a:rPr lang="ja"/>
              <a:t>→制約なしだとべき乗が大きくなりそうだが、むしろ掃き出し法で解かれてしまう。</a:t>
            </a:r>
            <a:endParaRPr/>
          </a:p>
        </p:txBody>
      </p:sp>
      <p:pic>
        <p:nvPicPr>
          <p:cNvPr id="81" name="Google Shape;81;p17"/>
          <p:cNvPicPr preferRelativeResize="0"/>
          <p:nvPr/>
        </p:nvPicPr>
        <p:blipFill>
          <a:blip r:embed="rId3">
            <a:alphaModFix/>
          </a:blip>
          <a:stretch>
            <a:fillRect/>
          </a:stretch>
        </p:blipFill>
        <p:spPr>
          <a:xfrm>
            <a:off x="4571996" y="1600396"/>
            <a:ext cx="4375950" cy="2360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RSAやECCと</a:t>
            </a:r>
            <a:r>
              <a:rPr lang="ja"/>
              <a:t>比べた格子暗号の特徴</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ja"/>
              <a:t>アルゴリズムが単純で並列計算が容易な事が多い</a:t>
            </a:r>
            <a:endParaRPr/>
          </a:p>
          <a:p>
            <a:pPr indent="0" lvl="0" marL="0" rtl="0" algn="l">
              <a:spcBef>
                <a:spcPts val="1200"/>
              </a:spcBef>
              <a:spcAft>
                <a:spcPts val="0"/>
              </a:spcAft>
              <a:buNone/>
            </a:pPr>
            <a:r>
              <a:rPr lang="ja"/>
              <a:t>小さな整数を法とするベクトルと行列に対する線形演算で構成されている。</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・アルゴリズムが単純</a:t>
            </a:r>
            <a:endParaRPr/>
          </a:p>
          <a:p>
            <a:pPr indent="0" lvl="0" marL="0" rtl="0" algn="l">
              <a:spcBef>
                <a:spcPts val="1200"/>
              </a:spcBef>
              <a:spcAft>
                <a:spcPts val="0"/>
              </a:spcAft>
              <a:buNone/>
            </a:pPr>
            <a:r>
              <a:rPr lang="ja"/>
              <a:t>→行列演算の中身は内積、つまり加算と乗算だから。</a:t>
            </a:r>
            <a:endParaRPr/>
          </a:p>
          <a:p>
            <a:pPr indent="0" lvl="0" marL="0" rtl="0" algn="l">
              <a:spcBef>
                <a:spcPts val="1200"/>
              </a:spcBef>
              <a:spcAft>
                <a:spcPts val="0"/>
              </a:spcAft>
              <a:buNone/>
            </a:pPr>
            <a:r>
              <a:rPr lang="ja"/>
              <a:t>・並列計算が容易</a:t>
            </a:r>
            <a:endParaRPr/>
          </a:p>
          <a:p>
            <a:pPr indent="0" lvl="0" marL="0" rtl="0" algn="l">
              <a:spcBef>
                <a:spcPts val="1200"/>
              </a:spcBef>
              <a:spcAft>
                <a:spcPts val="0"/>
              </a:spcAft>
              <a:buNone/>
            </a:pPr>
            <a:r>
              <a:rPr lang="ja"/>
              <a:t>→内積は逐次じゃない。</a:t>
            </a:r>
            <a:endParaRPr/>
          </a:p>
          <a:p>
            <a:pPr indent="0" lvl="0" marL="0" rtl="0" algn="l">
              <a:spcBef>
                <a:spcPts val="1200"/>
              </a:spcBef>
              <a:spcAft>
                <a:spcPts val="0"/>
              </a:spcAft>
              <a:buNone/>
            </a:pPr>
            <a:r>
              <a:rPr lang="ja"/>
              <a:t>・小さな整数を法とする</a:t>
            </a:r>
            <a:endParaRPr/>
          </a:p>
          <a:p>
            <a:pPr indent="0" lvl="0" marL="0" rtl="0" algn="l">
              <a:spcBef>
                <a:spcPts val="1200"/>
              </a:spcBef>
              <a:spcAft>
                <a:spcPts val="1200"/>
              </a:spcAft>
              <a:buNone/>
            </a:pPr>
            <a:r>
              <a:rPr lang="ja"/>
              <a:t>→3329とかが法。（12～14bit）ECCが256、RSAが2048と考えるとすごく小さい。</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RSAやECCと比べた格子暗号の特徴</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RSAやECCに比べて、脆弱な暗号になりにくい。というのもLWE問題は平均的に解くのが難しいから。</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・どういうことかというと、RSAなんかは素数p,qの選び方次第で簡単に解かれてしまうことがある。ただ、LWEはどんな数選んでも脆弱な確率が低い。</a:t>
            </a:r>
            <a:endParaRPr/>
          </a:p>
          <a:p>
            <a:pPr indent="0" lvl="0" marL="0" rtl="0" algn="l">
              <a:spcBef>
                <a:spcPts val="1200"/>
              </a:spcBef>
              <a:spcAft>
                <a:spcPts val="0"/>
              </a:spcAft>
              <a:buNone/>
            </a:pPr>
            <a:r>
              <a:rPr lang="ja"/>
              <a:t>例)pとqを巨大でも近い数にすると、フェルマーの素因数法で解かれてしまう</a:t>
            </a:r>
            <a:endParaRPr/>
          </a:p>
          <a:p>
            <a:pPr indent="0" lvl="0" marL="0" rtl="0" algn="l">
              <a:spcBef>
                <a:spcPts val="1200"/>
              </a:spcBef>
              <a:spcAft>
                <a:spcPts val="1200"/>
              </a:spcAft>
              <a:buNone/>
            </a:pPr>
            <a:r>
              <a:rPr lang="ja"/>
              <a:t>→ただし垂直に近い基底ベクトルだとまずい。次頁参照。</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格子暗号の式と格子部分のイメージ</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ja"/>
              <a:t>𝕓=𝔸𝕤+𝕖</a:t>
            </a:r>
            <a:endParaRPr/>
          </a:p>
          <a:p>
            <a:pPr indent="0" lvl="0" marL="0" rtl="0" algn="l">
              <a:spcBef>
                <a:spcPts val="1200"/>
              </a:spcBef>
              <a:spcAft>
                <a:spcPts val="0"/>
              </a:spcAft>
              <a:buNone/>
            </a:pPr>
            <a:r>
              <a:rPr lang="ja"/>
              <a:t>A→公開鍵、s→秘密鍵、e→ノイズ</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・格子は計算後のベクトル𝕓の行の数の次元に展開される。</a:t>
            </a:r>
            <a:endParaRPr/>
          </a:p>
          <a:p>
            <a:pPr indent="0" lvl="0" marL="0" rtl="0" algn="l">
              <a:spcBef>
                <a:spcPts val="1200"/>
              </a:spcBef>
              <a:spcAft>
                <a:spcPts val="0"/>
              </a:spcAft>
              <a:buNone/>
            </a:pPr>
            <a:r>
              <a:rPr lang="ja"/>
              <a:t>・格子のマス目はベクトル𝕓の基底ベクトルとなる。</a:t>
            </a:r>
            <a:endParaRPr/>
          </a:p>
          <a:p>
            <a:pPr indent="0" lvl="0" marL="0" rtl="0" algn="l">
              <a:spcBef>
                <a:spcPts val="1200"/>
              </a:spcBef>
              <a:spcAft>
                <a:spcPts val="0"/>
              </a:spcAft>
              <a:buNone/>
            </a:pPr>
            <a:r>
              <a:rPr lang="ja"/>
              <a:t>そのため正方形の格子となる訳ではなく、ひし形の格子とかになる。</a:t>
            </a:r>
            <a:endParaRPr/>
          </a:p>
          <a:p>
            <a:pPr indent="0" lvl="0" marL="0" rtl="0" algn="l">
              <a:spcBef>
                <a:spcPts val="1200"/>
              </a:spcBef>
              <a:spcAft>
                <a:spcPts val="0"/>
              </a:spcAft>
              <a:buNone/>
            </a:pPr>
            <a:r>
              <a:rPr lang="ja"/>
              <a:t>・基底ベクトルは掃き出し法でランク出したあと、それぞれの段差の左端のやつになる。</a:t>
            </a:r>
            <a:endParaRPr/>
          </a:p>
          <a:p>
            <a:pPr indent="0" lvl="0" marL="0" rtl="0" algn="l">
              <a:spcBef>
                <a:spcPts val="1200"/>
              </a:spcBef>
              <a:spcAft>
                <a:spcPts val="0"/>
              </a:spcAft>
              <a:buNone/>
            </a:pPr>
            <a:r>
              <a:rPr lang="ja"/>
              <a:t>・基底の選び方にもポイントがあり、</a:t>
            </a:r>
            <a:endParaRPr/>
          </a:p>
          <a:p>
            <a:pPr indent="0" lvl="0" marL="0" rtl="0" algn="l">
              <a:spcBef>
                <a:spcPts val="1200"/>
              </a:spcBef>
              <a:spcAft>
                <a:spcPts val="0"/>
              </a:spcAft>
              <a:buNone/>
            </a:pPr>
            <a:r>
              <a:rPr lang="ja"/>
              <a:t>基底ベクトルの交わりが直交に近ければ近いほど</a:t>
            </a:r>
            <a:endParaRPr/>
          </a:p>
          <a:p>
            <a:pPr indent="0" lvl="0" marL="0" rtl="0" algn="l">
              <a:spcBef>
                <a:spcPts val="1200"/>
              </a:spcBef>
              <a:spcAft>
                <a:spcPts val="1200"/>
              </a:spcAft>
              <a:buNone/>
            </a:pPr>
            <a:r>
              <a:rPr lang="ja"/>
              <a:t>解くのが簡単になるらしい。</a:t>
            </a:r>
            <a:endParaRPr/>
          </a:p>
        </p:txBody>
      </p:sp>
      <p:pic>
        <p:nvPicPr>
          <p:cNvPr id="100" name="Google Shape;100;p20"/>
          <p:cNvPicPr preferRelativeResize="0"/>
          <p:nvPr/>
        </p:nvPicPr>
        <p:blipFill rotWithShape="1">
          <a:blip r:embed="rId3">
            <a:alphaModFix/>
          </a:blip>
          <a:srcRect b="19142" l="0" r="0" t="22409"/>
          <a:stretch/>
        </p:blipFill>
        <p:spPr>
          <a:xfrm>
            <a:off x="6159855" y="1816729"/>
            <a:ext cx="2436399" cy="3006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Ring-LWE</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a:t>LWEは</a:t>
            </a:r>
            <a:r>
              <a:rPr lang="ja"/>
              <a:t>行列とベクトルの乗算</a:t>
            </a:r>
            <a:endParaRPr/>
          </a:p>
          <a:p>
            <a:pPr indent="0" lvl="0" marL="0" rtl="0" algn="l">
              <a:spcBef>
                <a:spcPts val="1200"/>
              </a:spcBef>
              <a:spcAft>
                <a:spcPts val="0"/>
              </a:spcAft>
              <a:buNone/>
            </a:pPr>
            <a:r>
              <a:rPr lang="ja"/>
              <a:t>課題・・・公開鍵ベクトルAが大きいと通信帯域やメモリを圧迫する</a:t>
            </a:r>
            <a:endParaRPr/>
          </a:p>
          <a:p>
            <a:pPr indent="0" lvl="0" marL="0" rtl="0" algn="l">
              <a:spcBef>
                <a:spcPts val="1200"/>
              </a:spcBef>
              <a:spcAft>
                <a:spcPts val="0"/>
              </a:spcAft>
              <a:buNone/>
            </a:pPr>
            <a:r>
              <a:rPr lang="ja"/>
              <a:t>Ring-LWEでは行列の代わりに多項式を使う</a:t>
            </a:r>
            <a:endParaRPr/>
          </a:p>
          <a:p>
            <a:pPr indent="0" lvl="0" marL="0" rtl="0" algn="l">
              <a:spcBef>
                <a:spcPts val="1200"/>
              </a:spcBef>
              <a:spcAft>
                <a:spcPts val="0"/>
              </a:spcAft>
              <a:buNone/>
            </a:pPr>
            <a:r>
              <a:rPr lang="ja"/>
              <a:t>b(x)=A(x)・s(x)＋e(x) (modΦ(x)、q)</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既約多項式が登場</a:t>
            </a:r>
            <a:endParaRPr/>
          </a:p>
          <a:p>
            <a:pPr indent="0" lvl="0" marL="0" rtl="0" algn="l">
              <a:spcBef>
                <a:spcPts val="1200"/>
              </a:spcBef>
              <a:spcAft>
                <a:spcPts val="0"/>
              </a:spcAft>
              <a:buNone/>
            </a:pPr>
            <a:r>
              <a:rPr lang="ja"/>
              <a:t>→係数が因数分解出来ない多項式としたいから。</a:t>
            </a:r>
            <a:endParaRPr/>
          </a:p>
          <a:p>
            <a:pPr indent="0" lvl="0" marL="0" rtl="0" algn="l">
              <a:spcBef>
                <a:spcPts val="1200"/>
              </a:spcBef>
              <a:spcAft>
                <a:spcPts val="1200"/>
              </a:spcAft>
              <a:buNone/>
            </a:pPr>
            <a:r>
              <a:rPr lang="ja"/>
              <a:t>→因数分解できてしまうと攻撃者にCRTで効率化して計算されてしまう。</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Ring-LWEの</a:t>
            </a:r>
            <a:r>
              <a:rPr lang="ja"/>
              <a:t>計算具体例（次数4）</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3" name="Google Shape;113;p22"/>
          <p:cNvPicPr preferRelativeResize="0"/>
          <p:nvPr/>
        </p:nvPicPr>
        <p:blipFill rotWithShape="1">
          <a:blip r:embed="rId3">
            <a:alphaModFix/>
          </a:blip>
          <a:srcRect b="25883" l="0" r="0" t="19787"/>
          <a:stretch/>
        </p:blipFill>
        <p:spPr>
          <a:xfrm>
            <a:off x="487465" y="1463437"/>
            <a:ext cx="2436399" cy="2794476"/>
          </a:xfrm>
          <a:prstGeom prst="rect">
            <a:avLst/>
          </a:prstGeom>
          <a:noFill/>
          <a:ln>
            <a:noFill/>
          </a:ln>
        </p:spPr>
      </p:pic>
      <p:pic>
        <p:nvPicPr>
          <p:cNvPr id="114" name="Google Shape;114;p22"/>
          <p:cNvPicPr preferRelativeResize="0"/>
          <p:nvPr/>
        </p:nvPicPr>
        <p:blipFill rotWithShape="1">
          <a:blip r:embed="rId4">
            <a:alphaModFix/>
          </a:blip>
          <a:srcRect b="19206" l="0" r="0" t="26464"/>
          <a:stretch/>
        </p:blipFill>
        <p:spPr>
          <a:xfrm>
            <a:off x="2923875" y="1463425"/>
            <a:ext cx="2436399" cy="2794499"/>
          </a:xfrm>
          <a:prstGeom prst="rect">
            <a:avLst/>
          </a:prstGeom>
          <a:noFill/>
          <a:ln>
            <a:noFill/>
          </a:ln>
        </p:spPr>
      </p:pic>
      <p:pic>
        <p:nvPicPr>
          <p:cNvPr id="115" name="Google Shape;115;p22"/>
          <p:cNvPicPr preferRelativeResize="0"/>
          <p:nvPr/>
        </p:nvPicPr>
        <p:blipFill rotWithShape="1">
          <a:blip r:embed="rId5">
            <a:alphaModFix/>
          </a:blip>
          <a:srcRect b="35606" l="0" r="0" t="13542"/>
          <a:stretch/>
        </p:blipFill>
        <p:spPr>
          <a:xfrm>
            <a:off x="5360275" y="1552925"/>
            <a:ext cx="2436399" cy="26155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LWEに</a:t>
            </a:r>
            <a:r>
              <a:rPr lang="ja"/>
              <a:t>比べた</a:t>
            </a:r>
            <a:r>
              <a:rPr lang="ja"/>
              <a:t>Ring-LWEの</a:t>
            </a:r>
            <a:r>
              <a:rPr lang="ja"/>
              <a:t>メリット</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ja"/>
              <a:t>​鍵サイズの劇的な削減:</a:t>
            </a:r>
            <a:endParaRPr/>
          </a:p>
          <a:p>
            <a:pPr indent="0" lvl="0" marL="0" rtl="0" algn="l">
              <a:spcBef>
                <a:spcPts val="1200"/>
              </a:spcBef>
              <a:spcAft>
                <a:spcPts val="0"/>
              </a:spcAft>
              <a:buNone/>
            </a:pPr>
            <a:r>
              <a:rPr lang="ja"/>
              <a:t>行列A を丸ごと送る代わりに、多項式 a(x) の係数だけを送れば済むため、公開鍵のサイズが n^2 から n のオーダーに削減される</a:t>
            </a:r>
            <a:endParaRPr/>
          </a:p>
          <a:p>
            <a:pPr indent="0" lvl="0" marL="0" rtl="0" algn="l">
              <a:spcBef>
                <a:spcPts val="1200"/>
              </a:spcBef>
              <a:spcAft>
                <a:spcPts val="0"/>
              </a:spcAft>
              <a:buNone/>
            </a:pPr>
            <a:r>
              <a:rPr lang="ja"/>
              <a:t>​演算の高速化 (NTT):</a:t>
            </a:r>
            <a:endParaRPr/>
          </a:p>
          <a:p>
            <a:pPr indent="0" lvl="0" marL="0" rtl="0" algn="l">
              <a:spcBef>
                <a:spcPts val="1200"/>
              </a:spcBef>
              <a:spcAft>
                <a:spcPts val="0"/>
              </a:spcAft>
              <a:buNone/>
            </a:pPr>
            <a:r>
              <a:rPr lang="ja"/>
              <a:t>多項式の掛け算は、信号処理でおなじみの高速フーリエ変換（FFT）の整数版であるNTT (Number Theoretic Transform) を使うことで、極めて高速に計算できる</a:t>
            </a:r>
            <a:endParaRPr/>
          </a:p>
          <a:p>
            <a:pPr indent="0" lvl="0" marL="0" rtl="0" algn="l">
              <a:spcBef>
                <a:spcPts val="1200"/>
              </a:spcBef>
              <a:spcAft>
                <a:spcPts val="0"/>
              </a:spcAft>
              <a:buNone/>
            </a:pPr>
            <a:r>
              <a:rPr lang="ja"/>
              <a:t>​LWE: O(n^2) の計算量</a:t>
            </a:r>
            <a:endParaRPr/>
          </a:p>
          <a:p>
            <a:pPr indent="0" lvl="0" marL="0" rtl="0" algn="l">
              <a:spcBef>
                <a:spcPts val="1200"/>
              </a:spcBef>
              <a:spcAft>
                <a:spcPts val="1200"/>
              </a:spcAft>
              <a:buNone/>
            </a:pPr>
            <a:r>
              <a:rPr lang="ja"/>
              <a:t>​Ring-LWE: O(n \log n) の計算量</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