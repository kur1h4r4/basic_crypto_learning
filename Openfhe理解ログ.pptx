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6f0684a31a35be6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6f0684a31a35be6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6ef274cf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6ef274cf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6ef274cf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6ef274cf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6ef274cf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6ef274cf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708178b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8708178b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8708178b4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8708178b4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708178b4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708178b4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708178b4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708178b4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708178b4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8708178b4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708178b4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8708178b4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github.com/openfheorg/openfhe-development/blob/main/src/pke/examples/simple-real-numbers.cpp"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Openfhe</a:t>
            </a:r>
            <a:r>
              <a:rPr lang="ja"/>
              <a:t>理解ログ</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CKKS</a:t>
            </a:r>
            <a:r>
              <a:rPr lang="ja"/>
              <a:t>を使った単純な実数演算</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u="sng">
                <a:solidFill>
                  <a:schemeClr val="hlink"/>
                </a:solidFill>
                <a:hlinkClick r:id="rId3"/>
              </a:rPr>
              <a:t>http://github.com/openfheorg/openfhe-development/blob/main/src/pke/examples/simple-real-numbers.cpp</a:t>
            </a:r>
            <a:endParaRPr/>
          </a:p>
          <a:p>
            <a:pPr indent="0" lvl="0" marL="0" rtl="0" algn="l">
              <a:spcBef>
                <a:spcPts val="1200"/>
              </a:spcBef>
              <a:spcAft>
                <a:spcPts val="0"/>
              </a:spcAft>
              <a:buNone/>
            </a:pPr>
            <a:r>
              <a:rPr lang="ja"/>
              <a:t>CKKS方式の準同型加算・乗算・回転の演算のコード例。</a:t>
            </a:r>
            <a:endParaRPr/>
          </a:p>
          <a:p>
            <a:pPr indent="0" lvl="0" marL="0" rtl="0" algn="l">
              <a:spcBef>
                <a:spcPts val="1200"/>
              </a:spcBef>
              <a:spcAft>
                <a:spcPts val="0"/>
              </a:spcAft>
              <a:buNone/>
            </a:pPr>
            <a:r>
              <a:rPr lang="ja"/>
              <a:t>うえから読んでいく。</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ja"/>
              <a:t>パラメータセット</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ja">
                <a:solidFill>
                  <a:schemeClr val="dk1"/>
                </a:solidFill>
              </a:rPr>
              <a:t>uint32_t multDepth = 1;</a:t>
            </a:r>
            <a:endParaRPr>
              <a:solidFill>
                <a:schemeClr val="dk1"/>
              </a:solidFill>
            </a:endParaRPr>
          </a:p>
          <a:p>
            <a:pPr indent="0" lvl="0" marL="0" rtl="0" algn="l">
              <a:spcBef>
                <a:spcPts val="1200"/>
              </a:spcBef>
              <a:spcAft>
                <a:spcPts val="0"/>
              </a:spcAft>
              <a:buClr>
                <a:schemeClr val="dk1"/>
              </a:buClr>
              <a:buSzPts val="1100"/>
              <a:buFont typeface="Arial"/>
              <a:buNone/>
            </a:pPr>
            <a:r>
              <a:rPr lang="ja" sz="1400">
                <a:solidFill>
                  <a:schemeClr val="dk1"/>
                </a:solidFill>
              </a:rPr>
              <a:t>乗算深度：先述した通りだが、二分木アルゴリズムで並列計算できる乗算の回数。ようはこの回数以上計算するとノイズがたまるので設定するパラメータ</a:t>
            </a:r>
            <a:endParaRPr sz="1400">
              <a:solidFill>
                <a:schemeClr val="dk1"/>
              </a:solidFill>
            </a:endParaRPr>
          </a:p>
          <a:p>
            <a:pPr indent="0" lvl="0" marL="0" rtl="0" algn="l">
              <a:spcBef>
                <a:spcPts val="1200"/>
              </a:spcBef>
              <a:spcAft>
                <a:spcPts val="0"/>
              </a:spcAft>
              <a:buClr>
                <a:schemeClr val="dk1"/>
              </a:buClr>
              <a:buSzPts val="1100"/>
              <a:buFont typeface="Arial"/>
              <a:buNone/>
            </a:pPr>
            <a:r>
              <a:rPr lang="ja">
                <a:solidFill>
                  <a:schemeClr val="dk1"/>
                </a:solidFill>
              </a:rPr>
              <a:t>u</a:t>
            </a:r>
            <a:r>
              <a:rPr lang="ja">
                <a:solidFill>
                  <a:schemeClr val="dk1"/>
                </a:solidFill>
              </a:rPr>
              <a:t>int32_t scaleModSize = 50;</a:t>
            </a:r>
            <a:endParaRPr>
              <a:solidFill>
                <a:schemeClr val="dk1"/>
              </a:solidFill>
            </a:endParaRPr>
          </a:p>
          <a:p>
            <a:pPr indent="0" lvl="0" marL="0" rtl="0" algn="l">
              <a:spcBef>
                <a:spcPts val="1200"/>
              </a:spcBef>
              <a:spcAft>
                <a:spcPts val="0"/>
              </a:spcAft>
              <a:buNone/>
            </a:pPr>
            <a:r>
              <a:rPr lang="ja" sz="1400">
                <a:solidFill>
                  <a:schemeClr val="dk1"/>
                </a:solidFill>
              </a:rPr>
              <a:t>スケーリング係数：encode(m, Δ)のΔに当たる数。BGV、BFVでは t / q = Δであったが、TFHEではユーザ側が決める。TFHEは実数演算だが、m'=round(m*D)という形で、実際は整数に一旦スケーリングされている。復号後、スケーリングは解除されて実数で返される。</a:t>
            </a:r>
            <a:endParaRPr sz="1400">
              <a:solidFill>
                <a:schemeClr val="dk1"/>
              </a:solidFill>
            </a:endParaRPr>
          </a:p>
          <a:p>
            <a:pPr indent="0" lvl="0" marL="0" rtl="0" algn="l">
              <a:spcBef>
                <a:spcPts val="1200"/>
              </a:spcBef>
              <a:spcAft>
                <a:spcPts val="0"/>
              </a:spcAft>
              <a:buNone/>
            </a:pPr>
            <a:r>
              <a:rPr lang="ja">
                <a:solidFill>
                  <a:schemeClr val="dk1"/>
                </a:solidFill>
              </a:rPr>
              <a:t>uint32_t batchSize = 8;</a:t>
            </a:r>
            <a:endParaRPr>
              <a:solidFill>
                <a:schemeClr val="dk1"/>
              </a:solidFill>
            </a:endParaRPr>
          </a:p>
          <a:p>
            <a:pPr indent="0" lvl="0" marL="0" rtl="0" algn="l">
              <a:spcBef>
                <a:spcPts val="1200"/>
              </a:spcBef>
              <a:spcAft>
                <a:spcPts val="1200"/>
              </a:spcAft>
              <a:buNone/>
            </a:pPr>
            <a:r>
              <a:rPr lang="ja" sz="1400">
                <a:solidFill>
                  <a:schemeClr val="dk1"/>
                </a:solidFill>
              </a:rPr>
              <a:t>バッチサイ</a:t>
            </a:r>
            <a:r>
              <a:rPr lang="ja" sz="1400">
                <a:solidFill>
                  <a:schemeClr val="dk1"/>
                </a:solidFill>
              </a:rPr>
              <a:t>ズ：</a:t>
            </a:r>
            <a:r>
              <a:rPr lang="ja" sz="1400">
                <a:solidFill>
                  <a:schemeClr val="dk1"/>
                </a:solidFill>
              </a:rPr>
              <a:t>平文のスロットサイズ。8レーン並列で準同型乗算が可能(SIMD)</a:t>
            </a:r>
            <a:endParaRPr sz="1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2. </a:t>
            </a:r>
            <a:r>
              <a:rPr lang="ja"/>
              <a:t>モード選択</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ja">
                <a:solidFill>
                  <a:schemeClr val="dk1"/>
                </a:solidFill>
              </a:rPr>
              <a:t>CryptoContext&lt;DCRTPoly&gt; cc = GenCryptoContext(parameters);</a:t>
            </a:r>
            <a:endParaRPr>
              <a:solidFill>
                <a:schemeClr val="dk1"/>
              </a:solidFill>
            </a:endParaRPr>
          </a:p>
          <a:p>
            <a:pPr indent="0" lvl="0" marL="0" rtl="0" algn="l">
              <a:spcBef>
                <a:spcPts val="1200"/>
              </a:spcBef>
              <a:spcAft>
                <a:spcPts val="0"/>
              </a:spcAft>
              <a:buNone/>
            </a:pPr>
            <a:r>
              <a:rPr lang="ja" sz="1400">
                <a:solidFill>
                  <a:schemeClr val="dk1"/>
                </a:solidFill>
              </a:rPr>
              <a:t>DoubleCRTでの計算。これは前述の通り。</a:t>
            </a:r>
            <a:endParaRPr sz="1400">
              <a:solidFill>
                <a:schemeClr val="dk1"/>
              </a:solidFill>
            </a:endParaRPr>
          </a:p>
          <a:p>
            <a:pPr indent="0" lvl="0" marL="0" rtl="0" algn="l">
              <a:spcBef>
                <a:spcPts val="1200"/>
              </a:spcBef>
              <a:spcAft>
                <a:spcPts val="0"/>
              </a:spcAft>
              <a:buNone/>
            </a:pPr>
            <a:r>
              <a:rPr lang="ja">
                <a:solidFill>
                  <a:schemeClr val="dk1"/>
                </a:solidFill>
              </a:rPr>
              <a:t>    cc-&gt;Enable(PKE);</a:t>
            </a:r>
            <a:endParaRPr>
              <a:solidFill>
                <a:schemeClr val="dk1"/>
              </a:solidFill>
            </a:endParaRPr>
          </a:p>
          <a:p>
            <a:pPr indent="0" lvl="0" marL="0" rtl="0" algn="l">
              <a:spcBef>
                <a:spcPts val="1200"/>
              </a:spcBef>
              <a:spcAft>
                <a:spcPts val="0"/>
              </a:spcAft>
              <a:buNone/>
            </a:pPr>
            <a:r>
              <a:rPr lang="ja" sz="1400">
                <a:solidFill>
                  <a:schemeClr val="dk1"/>
                </a:solidFill>
              </a:rPr>
              <a:t>PublicKeyEncryption。公開鍵演算を有効にする</a:t>
            </a:r>
            <a:r>
              <a:rPr lang="ja" sz="1400">
                <a:solidFill>
                  <a:schemeClr val="dk1"/>
                </a:solidFill>
              </a:rPr>
              <a:t>。</a:t>
            </a:r>
            <a:endParaRPr sz="1400">
              <a:solidFill>
                <a:schemeClr val="dk1"/>
              </a:solidFill>
            </a:endParaRPr>
          </a:p>
          <a:p>
            <a:pPr indent="0" lvl="0" marL="0" rtl="0" algn="l">
              <a:spcBef>
                <a:spcPts val="1200"/>
              </a:spcBef>
              <a:spcAft>
                <a:spcPts val="0"/>
              </a:spcAft>
              <a:buNone/>
            </a:pPr>
            <a:r>
              <a:rPr lang="ja">
                <a:solidFill>
                  <a:schemeClr val="dk1"/>
                </a:solidFill>
              </a:rPr>
              <a:t> </a:t>
            </a:r>
            <a:r>
              <a:rPr lang="ja">
                <a:solidFill>
                  <a:schemeClr val="dk1"/>
                </a:solidFill>
              </a:rPr>
              <a:t>   cc-&gt;Enable(KEYSWITCH);</a:t>
            </a:r>
            <a:endParaRPr>
              <a:solidFill>
                <a:schemeClr val="dk1"/>
              </a:solidFill>
            </a:endParaRPr>
          </a:p>
          <a:p>
            <a:pPr indent="0" lvl="0" marL="0" rtl="0" algn="l">
              <a:spcBef>
                <a:spcPts val="1200"/>
              </a:spcBef>
              <a:spcAft>
                <a:spcPts val="0"/>
              </a:spcAft>
              <a:buNone/>
            </a:pPr>
            <a:r>
              <a:rPr lang="ja" sz="1400">
                <a:solidFill>
                  <a:schemeClr val="dk1"/>
                </a:solidFill>
              </a:rPr>
              <a:t>鍵交換を有効にする。準同型乗算において、復号時に秘密鍵sがs^2で使わなければならない事象が発生する。Relinearization（再線形化）という操作が必要で、それに必要。</a:t>
            </a:r>
            <a:endParaRPr sz="1400">
              <a:solidFill>
                <a:schemeClr val="dk1"/>
              </a:solidFill>
            </a:endParaRPr>
          </a:p>
          <a:p>
            <a:pPr indent="0" lvl="0" marL="0" rtl="0" algn="l">
              <a:spcBef>
                <a:spcPts val="1200"/>
              </a:spcBef>
              <a:spcAft>
                <a:spcPts val="0"/>
              </a:spcAft>
              <a:buNone/>
            </a:pPr>
            <a:r>
              <a:rPr lang="ja">
                <a:solidFill>
                  <a:schemeClr val="dk1"/>
                </a:solidFill>
              </a:rPr>
              <a:t>    cc-&gt;Enable(LEVELEDSHE);</a:t>
            </a:r>
            <a:endParaRPr>
              <a:solidFill>
                <a:schemeClr val="dk1"/>
              </a:solidFill>
            </a:endParaRPr>
          </a:p>
          <a:p>
            <a:pPr indent="0" lvl="0" marL="0" rtl="0" algn="l">
              <a:spcBef>
                <a:spcPts val="1200"/>
              </a:spcBef>
              <a:spcAft>
                <a:spcPts val="1200"/>
              </a:spcAft>
              <a:buNone/>
            </a:pPr>
            <a:r>
              <a:rPr lang="ja" sz="1400">
                <a:solidFill>
                  <a:schemeClr val="dk1"/>
                </a:solidFill>
              </a:rPr>
              <a:t>準同型演算を有効にする。深度計算も。</a:t>
            </a:r>
            <a:endParaRPr sz="1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2. </a:t>
            </a:r>
            <a:r>
              <a:rPr lang="ja"/>
              <a:t>鍵生成</a:t>
            </a:r>
            <a:endParaRPr/>
          </a:p>
        </p:txBody>
      </p:sp>
      <p:sp>
        <p:nvSpPr>
          <p:cNvPr id="79" name="Google Shape;79;p17"/>
          <p:cNvSpPr txBox="1"/>
          <p:nvPr>
            <p:ph idx="1" type="body"/>
          </p:nvPr>
        </p:nvSpPr>
        <p:spPr>
          <a:xfrm>
            <a:off x="311700" y="1152475"/>
            <a:ext cx="8520600" cy="3651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ja">
                <a:solidFill>
                  <a:schemeClr val="dk1"/>
                </a:solidFill>
              </a:rPr>
              <a:t>auto keys = cc-&gt;KeyGen();</a:t>
            </a:r>
            <a:endParaRPr>
              <a:solidFill>
                <a:schemeClr val="dk1"/>
              </a:solidFill>
            </a:endParaRPr>
          </a:p>
          <a:p>
            <a:pPr indent="0" lvl="0" marL="0" rtl="0" algn="l">
              <a:spcBef>
                <a:spcPts val="1200"/>
              </a:spcBef>
              <a:spcAft>
                <a:spcPts val="0"/>
              </a:spcAft>
              <a:buNone/>
            </a:pPr>
            <a:r>
              <a:rPr lang="ja" sz="1400">
                <a:solidFill>
                  <a:schemeClr val="dk1"/>
                </a:solidFill>
              </a:rPr>
              <a:t>大元となる鍵の生成。公開鍵・秘密鍵だけでなく、様々な操作に必要な鍵が生成される。</a:t>
            </a:r>
            <a:endParaRPr sz="1400">
              <a:solidFill>
                <a:schemeClr val="dk1"/>
              </a:solidFill>
            </a:endParaRPr>
          </a:p>
          <a:p>
            <a:pPr indent="0" lvl="0" marL="0" rtl="0" algn="l">
              <a:spcBef>
                <a:spcPts val="1200"/>
              </a:spcBef>
              <a:spcAft>
                <a:spcPts val="0"/>
              </a:spcAft>
              <a:buNone/>
            </a:pPr>
            <a:r>
              <a:rPr lang="ja">
                <a:solidFill>
                  <a:schemeClr val="dk1"/>
                </a:solidFill>
              </a:rPr>
              <a:t>    cc-&gt;EvalMultKeyGen(keys.secretKey);</a:t>
            </a:r>
            <a:endParaRPr>
              <a:solidFill>
                <a:schemeClr val="dk1"/>
              </a:solidFill>
            </a:endParaRPr>
          </a:p>
          <a:p>
            <a:pPr indent="0" lvl="0" marL="0" rtl="0" algn="l">
              <a:spcBef>
                <a:spcPts val="1200"/>
              </a:spcBef>
              <a:spcAft>
                <a:spcPts val="0"/>
              </a:spcAft>
              <a:buNone/>
            </a:pPr>
            <a:r>
              <a:rPr lang="ja" sz="1400">
                <a:solidFill>
                  <a:schemeClr val="dk1"/>
                </a:solidFill>
              </a:rPr>
              <a:t>準同型乗算によって生じたs^2の項を1次に戻すための再線形化(</a:t>
            </a:r>
            <a:r>
              <a:rPr lang="ja" sz="1400">
                <a:solidFill>
                  <a:schemeClr val="dk1"/>
                </a:solidFill>
              </a:rPr>
              <a:t>Relinearization)操作に必要な鍵。</a:t>
            </a:r>
            <a:endParaRPr sz="1400">
              <a:solidFill>
                <a:schemeClr val="dk1"/>
              </a:solidFill>
            </a:endParaRPr>
          </a:p>
          <a:p>
            <a:pPr indent="0" lvl="0" marL="0" rtl="0" algn="l">
              <a:spcBef>
                <a:spcPts val="1200"/>
              </a:spcBef>
              <a:spcAft>
                <a:spcPts val="0"/>
              </a:spcAft>
              <a:buNone/>
            </a:pPr>
            <a:r>
              <a:rPr lang="ja" sz="1400">
                <a:solidFill>
                  <a:schemeClr val="dk1"/>
                </a:solidFill>
              </a:rPr>
              <a:t>    cc-&gt;EvalRotateKeyGen(keys.secretKey, {1, -2});</a:t>
            </a:r>
            <a:endParaRPr sz="1400">
              <a:solidFill>
                <a:schemeClr val="dk1"/>
              </a:solidFill>
            </a:endParaRPr>
          </a:p>
          <a:p>
            <a:pPr indent="0" lvl="0" marL="0" rtl="0" algn="l">
              <a:spcBef>
                <a:spcPts val="1200"/>
              </a:spcBef>
              <a:spcAft>
                <a:spcPts val="0"/>
              </a:spcAft>
              <a:buNone/>
            </a:pPr>
            <a:r>
              <a:rPr lang="ja" sz="1400">
                <a:solidFill>
                  <a:schemeClr val="dk1"/>
                </a:solidFill>
              </a:rPr>
              <a:t>スロットの回転につかう鍵。多項式からNTTで点に変換してスロットに詰め込んで演算をするわけだが、点リストの要素の順番をずらすのがスロットの回転。鍵は[1,2,4でもっておくのが一番効率がいいらしい。(スロット数8の時。)</a:t>
            </a:r>
            <a:endParaRPr sz="1400">
              <a:solidFill>
                <a:schemeClr val="dk1"/>
              </a:solidFill>
            </a:endParaRPr>
          </a:p>
          <a:p>
            <a:pPr indent="0" lvl="0" marL="0" rtl="0" algn="l">
              <a:spcBef>
                <a:spcPts val="1200"/>
              </a:spcBef>
              <a:spcAft>
                <a:spcPts val="0"/>
              </a:spcAft>
              <a:buNone/>
            </a:pPr>
            <a:r>
              <a:rPr lang="ja" sz="1400">
                <a:solidFill>
                  <a:schemeClr val="dk1"/>
                </a:solidFill>
              </a:rPr>
              <a:t>回転鍵が{1, -2}なら</a:t>
            </a:r>
            <a:endParaRPr sz="1400">
              <a:solidFill>
                <a:schemeClr val="dk1"/>
              </a:solidFill>
            </a:endParaRPr>
          </a:p>
          <a:p>
            <a:pPr indent="0" lvl="0" marL="0" rtl="0" algn="l">
              <a:spcBef>
                <a:spcPts val="1200"/>
              </a:spcBef>
              <a:spcAft>
                <a:spcPts val="0"/>
              </a:spcAft>
              <a:buNone/>
            </a:pPr>
            <a:r>
              <a:rPr lang="ja" sz="1400">
                <a:solidFill>
                  <a:schemeClr val="dk1"/>
                </a:solidFill>
              </a:rPr>
              <a:t>[1,2,3,4,5,6,7,8] {1}	⇒[2,3,4,5,6,7,8,1]</a:t>
            </a:r>
            <a:endParaRPr sz="1400">
              <a:solidFill>
                <a:schemeClr val="dk1"/>
              </a:solidFill>
            </a:endParaRPr>
          </a:p>
          <a:p>
            <a:pPr indent="0" lvl="0" marL="0" rtl="0" algn="l">
              <a:spcBef>
                <a:spcPts val="1200"/>
              </a:spcBef>
              <a:spcAft>
                <a:spcPts val="1200"/>
              </a:spcAft>
              <a:buNone/>
            </a:pPr>
            <a:r>
              <a:rPr lang="ja" sz="1400">
                <a:solidFill>
                  <a:schemeClr val="dk1"/>
                </a:solidFill>
              </a:rPr>
              <a:t>[1,2,3,4,5,6,7,8] {2}	⇒[7,8,1,2,3,4,5,6]</a:t>
            </a:r>
            <a:endParaRPr sz="1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再線形化について</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ja">
                <a:solidFill>
                  <a:schemeClr val="dk1"/>
                </a:solidFill>
              </a:rPr>
              <a:t>暗号文 b = As + e + encode(m, Δ)であった。</a:t>
            </a:r>
            <a:endParaRPr>
              <a:solidFill>
                <a:schemeClr val="dk1"/>
              </a:solidFill>
            </a:endParaRPr>
          </a:p>
          <a:p>
            <a:pPr indent="0" lvl="0" marL="0" rtl="0" algn="l">
              <a:spcBef>
                <a:spcPts val="1200"/>
              </a:spcBef>
              <a:spcAft>
                <a:spcPts val="0"/>
              </a:spcAft>
              <a:buNone/>
            </a:pPr>
            <a:r>
              <a:rPr lang="ja">
                <a:solidFill>
                  <a:schemeClr val="dk1"/>
                </a:solidFill>
              </a:rPr>
              <a:t>e + encode(m, Δ)をcとおくと、</a:t>
            </a:r>
            <a:endParaRPr>
              <a:solidFill>
                <a:schemeClr val="dk1"/>
              </a:solidFill>
            </a:endParaRPr>
          </a:p>
          <a:p>
            <a:pPr indent="0" lvl="0" marL="0" rtl="0" algn="l">
              <a:spcBef>
                <a:spcPts val="1200"/>
              </a:spcBef>
              <a:spcAft>
                <a:spcPts val="0"/>
              </a:spcAft>
              <a:buNone/>
            </a:pPr>
            <a:r>
              <a:rPr lang="ja">
                <a:solidFill>
                  <a:schemeClr val="dk1"/>
                </a:solidFill>
              </a:rPr>
              <a:t>b^2 = A^2s^2 + 2 * As + c^2となり、s^2の項が生まれてしまう。</a:t>
            </a:r>
            <a:endParaRPr>
              <a:solidFill>
                <a:schemeClr val="dk1"/>
              </a:solidFill>
            </a:endParaRPr>
          </a:p>
          <a:p>
            <a:pPr indent="0" lvl="0" marL="0" rtl="0" algn="l">
              <a:spcBef>
                <a:spcPts val="1200"/>
              </a:spcBef>
              <a:spcAft>
                <a:spcPts val="0"/>
              </a:spcAft>
              <a:buNone/>
            </a:pPr>
            <a:r>
              <a:rPr lang="ja">
                <a:solidFill>
                  <a:schemeClr val="dk1"/>
                </a:solidFill>
              </a:rPr>
              <a:t>⇒こうなると、乗算のあと加算を考えたとき、s^2の項とsの項が存在し、加算ができない。</a:t>
            </a:r>
            <a:endParaRPr>
              <a:solidFill>
                <a:schemeClr val="dk1"/>
              </a:solidFill>
            </a:endParaRPr>
          </a:p>
          <a:p>
            <a:pPr indent="0" lvl="0" marL="0" rtl="0" algn="l">
              <a:spcBef>
                <a:spcPts val="1200"/>
              </a:spcBef>
              <a:spcAft>
                <a:spcPts val="0"/>
              </a:spcAft>
              <a:buNone/>
            </a:pPr>
            <a:r>
              <a:rPr lang="ja">
                <a:solidFill>
                  <a:schemeClr val="dk1"/>
                </a:solidFill>
              </a:rPr>
              <a:t>また、乗算を何回も繰り返すとsの次数がどんどんでかくなり、収拾がつかなくなる。</a:t>
            </a:r>
            <a:endParaRPr>
              <a:solidFill>
                <a:schemeClr val="dk1"/>
              </a:solidFill>
            </a:endParaRPr>
          </a:p>
          <a:p>
            <a:pPr indent="0" lvl="0" marL="0" rtl="0" algn="l">
              <a:spcBef>
                <a:spcPts val="1200"/>
              </a:spcBef>
              <a:spcAft>
                <a:spcPts val="0"/>
              </a:spcAft>
              <a:buClr>
                <a:schemeClr val="dk1"/>
              </a:buClr>
              <a:buSzPts val="1100"/>
              <a:buFont typeface="Arial"/>
              <a:buNone/>
            </a:pPr>
            <a:r>
              <a:rPr lang="ja">
                <a:solidFill>
                  <a:schemeClr val="dk1"/>
                </a:solidFill>
              </a:rPr>
              <a:t>rlkという定数に近い暗号文ベクトルによって、2次の多項式を1次で表現する。</a:t>
            </a:r>
            <a:endParaRPr>
              <a:solidFill>
                <a:schemeClr val="dk1"/>
              </a:solidFill>
            </a:endParaRPr>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3. </a:t>
            </a:r>
            <a:r>
              <a:rPr lang="ja"/>
              <a:t>準同型演算　～暗号化～</a:t>
            </a:r>
            <a:endParaRPr/>
          </a:p>
        </p:txBody>
      </p:sp>
      <p:sp>
        <p:nvSpPr>
          <p:cNvPr id="91" name="Google Shape;91;p19"/>
          <p:cNvSpPr txBox="1"/>
          <p:nvPr>
            <p:ph idx="1" type="body"/>
          </p:nvPr>
        </p:nvSpPr>
        <p:spPr>
          <a:xfrm>
            <a:off x="311700" y="1152475"/>
            <a:ext cx="8520600" cy="3651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275"/>
              <a:buFont typeface="Arial"/>
              <a:buNone/>
            </a:pPr>
            <a:r>
              <a:rPr lang="ja" sz="1250">
                <a:solidFill>
                  <a:schemeClr val="dk1"/>
                </a:solidFill>
              </a:rPr>
              <a:t>std::vector&lt;double&gt; x1 = {0.25, 0.5, 0.75, 1.0, 2.0, 3.0, 4.0, 5.0}</a:t>
            </a:r>
            <a:r>
              <a:rPr lang="ja" sz="1250">
                <a:solidFill>
                  <a:schemeClr val="dk1"/>
                </a:solidFill>
              </a:rPr>
              <a:t>;</a:t>
            </a:r>
            <a:br>
              <a:rPr lang="ja" sz="1250">
                <a:solidFill>
                  <a:schemeClr val="dk1"/>
                </a:solidFill>
              </a:rPr>
            </a:br>
            <a:r>
              <a:rPr lang="ja" sz="1250">
                <a:solidFill>
                  <a:schemeClr val="dk1"/>
                </a:solidFill>
              </a:rPr>
              <a:t>std::vector&lt;double&gt; x2 = {5.0, 4.0, 3.0, 2.0, 1.0, 0.75, 0.5, 0.25};</a:t>
            </a:r>
            <a:endParaRPr sz="1250">
              <a:solidFill>
                <a:schemeClr val="dk1"/>
              </a:solidFill>
            </a:endParaRPr>
          </a:p>
          <a:p>
            <a:pPr indent="0" lvl="0" marL="0" rtl="0" algn="l">
              <a:lnSpc>
                <a:spcPct val="95000"/>
              </a:lnSpc>
              <a:spcBef>
                <a:spcPts val="1200"/>
              </a:spcBef>
              <a:spcAft>
                <a:spcPts val="0"/>
              </a:spcAft>
              <a:buSzPts val="275"/>
              <a:buNone/>
            </a:pPr>
            <a:r>
              <a:rPr lang="ja" sz="1250">
                <a:solidFill>
                  <a:schemeClr val="dk1"/>
                </a:solidFill>
              </a:rPr>
              <a:t>Plaintext ptxt1 = cc-&gt;MakeCKKSPackedPlaintext(x1);</a:t>
            </a:r>
            <a:br>
              <a:rPr lang="ja" sz="1250">
                <a:solidFill>
                  <a:schemeClr val="dk1"/>
                </a:solidFill>
              </a:rPr>
            </a:br>
            <a:r>
              <a:rPr lang="ja" sz="1250">
                <a:solidFill>
                  <a:schemeClr val="dk1"/>
                </a:solidFill>
              </a:rPr>
              <a:t>Plaintext ptxt2 = cc-&gt;MakeCKKSPackedPlaintext(x2);</a:t>
            </a:r>
            <a:endParaRPr sz="1250">
              <a:solidFill>
                <a:schemeClr val="dk1"/>
              </a:solidFill>
            </a:endParaRPr>
          </a:p>
          <a:p>
            <a:pPr indent="0" lvl="0" marL="0" rtl="0" algn="l">
              <a:lnSpc>
                <a:spcPct val="95000"/>
              </a:lnSpc>
              <a:spcBef>
                <a:spcPts val="1200"/>
              </a:spcBef>
              <a:spcAft>
                <a:spcPts val="0"/>
              </a:spcAft>
              <a:buClr>
                <a:schemeClr val="dk1"/>
              </a:buClr>
              <a:buSzPts val="275"/>
              <a:buFont typeface="Arial"/>
              <a:buNone/>
            </a:pPr>
            <a:r>
              <a:rPr lang="ja" sz="1250">
                <a:solidFill>
                  <a:schemeClr val="dk1"/>
                </a:solidFill>
              </a:rPr>
              <a:t>auto c1 = cc-&gt;Encrypt(keys.publicKey, ptxt1);</a:t>
            </a:r>
            <a:br>
              <a:rPr lang="ja" sz="1250">
                <a:solidFill>
                  <a:schemeClr val="dk1"/>
                </a:solidFill>
              </a:rPr>
            </a:br>
            <a:r>
              <a:rPr lang="ja" sz="1250">
                <a:solidFill>
                  <a:schemeClr val="dk1"/>
                </a:solidFill>
              </a:rPr>
              <a:t>auto c2 = cc-&gt;Encrypt(keys.publicKey, ptxt2);</a:t>
            </a:r>
            <a:endParaRPr sz="1250">
              <a:solidFill>
                <a:schemeClr val="dk1"/>
              </a:solidFill>
            </a:endParaRPr>
          </a:p>
          <a:p>
            <a:pPr indent="0" lvl="0" marL="0" rtl="0" algn="l">
              <a:lnSpc>
                <a:spcPct val="95000"/>
              </a:lnSpc>
              <a:spcBef>
                <a:spcPts val="1200"/>
              </a:spcBef>
              <a:spcAft>
                <a:spcPts val="0"/>
              </a:spcAft>
              <a:buSzPts val="275"/>
              <a:buNone/>
            </a:pPr>
            <a:r>
              <a:rPr lang="ja" sz="1550">
                <a:solidFill>
                  <a:schemeClr val="dk1"/>
                </a:solidFill>
              </a:rPr>
              <a:t>平文をベクトルで突っ込み、暗号化している。</a:t>
            </a:r>
            <a:br>
              <a:rPr lang="ja" sz="1550">
                <a:solidFill>
                  <a:schemeClr val="dk1"/>
                </a:solidFill>
              </a:rPr>
            </a:br>
            <a:r>
              <a:rPr lang="ja" sz="1550">
                <a:solidFill>
                  <a:schemeClr val="dk1"/>
                </a:solidFill>
              </a:rPr>
              <a:t>b = As + e + encode(m, Δ)。⇒RNSとNTTで点に変換。</a:t>
            </a:r>
            <a:endParaRPr sz="1550">
              <a:solidFill>
                <a:schemeClr val="dk1"/>
              </a:solidFill>
            </a:endParaRPr>
          </a:p>
          <a:p>
            <a:pPr indent="0" lvl="0" marL="0" rtl="0" algn="l">
              <a:lnSpc>
                <a:spcPct val="95000"/>
              </a:lnSpc>
              <a:spcBef>
                <a:spcPts val="1200"/>
              </a:spcBef>
              <a:spcAft>
                <a:spcPts val="1200"/>
              </a:spcAft>
              <a:buSzPts val="275"/>
              <a:buNone/>
            </a:pPr>
            <a:r>
              <a:t/>
            </a:r>
            <a:endParaRPr sz="105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3. 準同型演算　～</a:t>
            </a:r>
            <a:r>
              <a:rPr lang="ja"/>
              <a:t>加算・乗算・回転</a:t>
            </a:r>
            <a:r>
              <a:rPr lang="ja"/>
              <a:t>～</a:t>
            </a:r>
            <a:endParaRPr/>
          </a:p>
        </p:txBody>
      </p:sp>
      <p:sp>
        <p:nvSpPr>
          <p:cNvPr id="97" name="Google Shape;97;p20"/>
          <p:cNvSpPr txBox="1"/>
          <p:nvPr>
            <p:ph idx="1" type="body"/>
          </p:nvPr>
        </p:nvSpPr>
        <p:spPr>
          <a:xfrm>
            <a:off x="311700" y="1152475"/>
            <a:ext cx="8520600" cy="3651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ja" sz="1250">
                <a:solidFill>
                  <a:schemeClr val="dk1"/>
                </a:solidFill>
              </a:rPr>
              <a:t>auto cAdd = cc-&gt;EvalAdd(c1, c2);</a:t>
            </a:r>
            <a:br>
              <a:rPr lang="ja" sz="1250">
                <a:solidFill>
                  <a:schemeClr val="dk1"/>
                </a:solidFill>
              </a:rPr>
            </a:br>
            <a:r>
              <a:rPr lang="ja" sz="1250">
                <a:solidFill>
                  <a:schemeClr val="dk1"/>
                </a:solidFill>
              </a:rPr>
              <a:t>auto cSub = cc-&gt;EvalSub(c1, c2);</a:t>
            </a:r>
            <a:br>
              <a:rPr lang="ja" sz="1250">
                <a:solidFill>
                  <a:schemeClr val="dk1"/>
                </a:solidFill>
              </a:rPr>
            </a:br>
            <a:r>
              <a:rPr lang="ja" sz="1250">
                <a:solidFill>
                  <a:schemeClr val="dk1"/>
                </a:solidFill>
              </a:rPr>
              <a:t>auto cScalar = cc-&gt;EvalMult(c1, 4.0);</a:t>
            </a:r>
            <a:br>
              <a:rPr lang="ja" sz="1250">
                <a:solidFill>
                  <a:schemeClr val="dk1"/>
                </a:solidFill>
              </a:rPr>
            </a:br>
            <a:r>
              <a:rPr lang="ja" sz="1250">
                <a:solidFill>
                  <a:schemeClr val="dk1"/>
                </a:solidFill>
              </a:rPr>
              <a:t>auto cMul = cc-&gt;EvalMult(c1, c2);</a:t>
            </a:r>
            <a:endParaRPr sz="1250">
              <a:solidFill>
                <a:schemeClr val="dk1"/>
              </a:solidFill>
            </a:endParaRPr>
          </a:p>
          <a:p>
            <a:pPr indent="0" lvl="0" marL="0" rtl="0" algn="l">
              <a:lnSpc>
                <a:spcPct val="95000"/>
              </a:lnSpc>
              <a:spcBef>
                <a:spcPts val="1200"/>
              </a:spcBef>
              <a:spcAft>
                <a:spcPts val="0"/>
              </a:spcAft>
              <a:buSzPts val="1100"/>
              <a:buNone/>
            </a:pPr>
            <a:r>
              <a:rPr lang="ja" sz="1250">
                <a:solidFill>
                  <a:schemeClr val="dk1"/>
                </a:solidFill>
              </a:rPr>
              <a:t>加算・乗算を実施</a:t>
            </a:r>
            <a:endParaRPr sz="1250">
              <a:solidFill>
                <a:schemeClr val="dk1"/>
              </a:solidFill>
            </a:endParaRPr>
          </a:p>
          <a:p>
            <a:pPr indent="0" lvl="0" marL="0" rtl="0" algn="l">
              <a:lnSpc>
                <a:spcPct val="95000"/>
              </a:lnSpc>
              <a:spcBef>
                <a:spcPts val="1200"/>
              </a:spcBef>
              <a:spcAft>
                <a:spcPts val="0"/>
              </a:spcAft>
              <a:buClr>
                <a:schemeClr val="dk1"/>
              </a:buClr>
              <a:buSzPts val="1100"/>
              <a:buFont typeface="Arial"/>
              <a:buNone/>
            </a:pPr>
            <a:r>
              <a:t/>
            </a:r>
            <a:endParaRPr sz="1250">
              <a:solidFill>
                <a:schemeClr val="dk1"/>
              </a:solidFill>
            </a:endParaRPr>
          </a:p>
          <a:p>
            <a:pPr indent="0" lvl="0" marL="0" rtl="0" algn="l">
              <a:lnSpc>
                <a:spcPct val="95000"/>
              </a:lnSpc>
              <a:spcBef>
                <a:spcPts val="1200"/>
              </a:spcBef>
              <a:spcAft>
                <a:spcPts val="0"/>
              </a:spcAft>
              <a:buClr>
                <a:schemeClr val="dk1"/>
              </a:buClr>
              <a:buSzPts val="1100"/>
              <a:buFont typeface="Arial"/>
              <a:buNone/>
            </a:pPr>
            <a:r>
              <a:rPr lang="ja" sz="1250">
                <a:solidFill>
                  <a:schemeClr val="dk1"/>
                </a:solidFill>
              </a:rPr>
              <a:t>auto cRot1 = cc-&gt;EvalRotate(c1, 1);</a:t>
            </a:r>
            <a:br>
              <a:rPr lang="ja" sz="1250">
                <a:solidFill>
                  <a:schemeClr val="dk1"/>
                </a:solidFill>
              </a:rPr>
            </a:br>
            <a:r>
              <a:rPr lang="ja" sz="1250">
                <a:solidFill>
                  <a:schemeClr val="dk1"/>
                </a:solidFill>
              </a:rPr>
              <a:t>auto cRot2 = cc-&gt;EvalRotate(c1, -2);</a:t>
            </a:r>
            <a:endParaRPr sz="1250">
              <a:solidFill>
                <a:schemeClr val="dk1"/>
              </a:solidFill>
            </a:endParaRPr>
          </a:p>
          <a:p>
            <a:pPr indent="0" lvl="0" marL="0" rtl="0" algn="l">
              <a:lnSpc>
                <a:spcPct val="95000"/>
              </a:lnSpc>
              <a:spcBef>
                <a:spcPts val="1200"/>
              </a:spcBef>
              <a:spcAft>
                <a:spcPts val="0"/>
              </a:spcAft>
              <a:buClr>
                <a:schemeClr val="dk1"/>
              </a:buClr>
              <a:buSzPts val="1100"/>
              <a:buFont typeface="Arial"/>
              <a:buNone/>
            </a:pPr>
            <a:r>
              <a:rPr lang="ja" sz="1250">
                <a:solidFill>
                  <a:schemeClr val="dk1"/>
                </a:solidFill>
              </a:rPr>
              <a:t>回転を実施</a:t>
            </a:r>
            <a:endParaRPr sz="1250">
              <a:solidFill>
                <a:schemeClr val="dk1"/>
              </a:solidFill>
            </a:endParaRPr>
          </a:p>
          <a:p>
            <a:pPr indent="0" lvl="0" marL="0" rtl="0" algn="l">
              <a:lnSpc>
                <a:spcPct val="95000"/>
              </a:lnSpc>
              <a:spcBef>
                <a:spcPts val="1200"/>
              </a:spcBef>
              <a:spcAft>
                <a:spcPts val="0"/>
              </a:spcAft>
              <a:buSzPts val="275"/>
              <a:buNone/>
            </a:pPr>
            <a:r>
              <a:t/>
            </a:r>
            <a:endParaRPr sz="1250">
              <a:solidFill>
                <a:schemeClr val="dk1"/>
              </a:solidFill>
            </a:endParaRPr>
          </a:p>
          <a:p>
            <a:pPr indent="0" lvl="0" marL="0" rtl="0" algn="l">
              <a:lnSpc>
                <a:spcPct val="95000"/>
              </a:lnSpc>
              <a:spcBef>
                <a:spcPts val="1200"/>
              </a:spcBef>
              <a:spcAft>
                <a:spcPts val="1200"/>
              </a:spcAft>
              <a:buSzPts val="275"/>
              <a:buNone/>
            </a:pPr>
            <a:r>
              <a:t/>
            </a:r>
            <a:endParaRPr sz="105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3. 準同型演算　～</a:t>
            </a:r>
            <a:r>
              <a:rPr lang="ja"/>
              <a:t>復号・演算結果表示</a:t>
            </a:r>
            <a:r>
              <a:rPr lang="ja"/>
              <a:t>～</a:t>
            </a:r>
            <a:endParaRPr/>
          </a:p>
        </p:txBody>
      </p:sp>
      <p:sp>
        <p:nvSpPr>
          <p:cNvPr id="103" name="Google Shape;103;p21"/>
          <p:cNvSpPr txBox="1"/>
          <p:nvPr>
            <p:ph idx="1" type="body"/>
          </p:nvPr>
        </p:nvSpPr>
        <p:spPr>
          <a:xfrm>
            <a:off x="311700" y="1152475"/>
            <a:ext cx="8520600" cy="3651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ja" sz="1250">
                <a:solidFill>
                  <a:schemeClr val="dk1"/>
                </a:solidFill>
              </a:rPr>
              <a:t>Plaintext result;</a:t>
            </a:r>
            <a:br>
              <a:rPr lang="ja" sz="1250">
                <a:solidFill>
                  <a:schemeClr val="dk1"/>
                </a:solidFill>
              </a:rPr>
            </a:br>
            <a:r>
              <a:rPr lang="ja" sz="1250">
                <a:solidFill>
                  <a:schemeClr val="dk1"/>
                </a:solidFill>
              </a:rPr>
              <a:t>std::cout.precision(8);</a:t>
            </a:r>
            <a:endParaRPr sz="1250">
              <a:solidFill>
                <a:schemeClr val="dk1"/>
              </a:solidFill>
            </a:endParaRPr>
          </a:p>
          <a:p>
            <a:pPr indent="0" lvl="0" marL="0" rtl="0" algn="l">
              <a:lnSpc>
                <a:spcPct val="95000"/>
              </a:lnSpc>
              <a:spcBef>
                <a:spcPts val="1200"/>
              </a:spcBef>
              <a:spcAft>
                <a:spcPts val="0"/>
              </a:spcAft>
              <a:buSzPts val="1100"/>
              <a:buNone/>
            </a:pPr>
            <a:r>
              <a:rPr lang="ja" sz="1250">
                <a:solidFill>
                  <a:schemeClr val="dk1"/>
                </a:solidFill>
              </a:rPr>
              <a:t>表示の精度を指定。8桁。ノイズをみたいなら15とかにする。</a:t>
            </a:r>
            <a:endParaRPr sz="1250">
              <a:solidFill>
                <a:schemeClr val="dk1"/>
              </a:solidFill>
            </a:endParaRPr>
          </a:p>
          <a:p>
            <a:pPr indent="0" lvl="0" marL="0" rtl="0" algn="l">
              <a:lnSpc>
                <a:spcPct val="95000"/>
              </a:lnSpc>
              <a:spcBef>
                <a:spcPts val="1200"/>
              </a:spcBef>
              <a:spcAft>
                <a:spcPts val="0"/>
              </a:spcAft>
              <a:buClr>
                <a:schemeClr val="dk1"/>
              </a:buClr>
              <a:buSzPts val="1100"/>
              <a:buFont typeface="Arial"/>
              <a:buNone/>
            </a:pPr>
            <a:r>
              <a:t/>
            </a:r>
            <a:endParaRPr sz="1250">
              <a:solidFill>
                <a:schemeClr val="dk1"/>
              </a:solidFill>
            </a:endParaRPr>
          </a:p>
          <a:p>
            <a:pPr indent="0" lvl="0" marL="0" rtl="0" algn="l">
              <a:lnSpc>
                <a:spcPct val="95000"/>
              </a:lnSpc>
              <a:spcBef>
                <a:spcPts val="1200"/>
              </a:spcBef>
              <a:spcAft>
                <a:spcPts val="0"/>
              </a:spcAft>
              <a:buClr>
                <a:schemeClr val="dk1"/>
              </a:buClr>
              <a:buSzPts val="1100"/>
              <a:buFont typeface="Arial"/>
              <a:buNone/>
            </a:pPr>
            <a:r>
              <a:rPr lang="ja" sz="1250">
                <a:solidFill>
                  <a:schemeClr val="dk1"/>
                </a:solidFill>
              </a:rPr>
              <a:t>cc-&gt;Decrypt(keys.secretKey, c1, &amp;result);</a:t>
            </a:r>
            <a:br>
              <a:rPr lang="ja" sz="1250">
                <a:solidFill>
                  <a:schemeClr val="dk1"/>
                </a:solidFill>
              </a:rPr>
            </a:br>
            <a:r>
              <a:rPr lang="ja" sz="1250">
                <a:solidFill>
                  <a:schemeClr val="dk1"/>
                </a:solidFill>
              </a:rPr>
              <a:t>result-&gt;SetLength(batchSize);</a:t>
            </a:r>
            <a:br>
              <a:rPr lang="ja" sz="1250">
                <a:solidFill>
                  <a:schemeClr val="dk1"/>
                </a:solidFill>
              </a:rPr>
            </a:br>
            <a:r>
              <a:rPr lang="ja" sz="1250">
                <a:solidFill>
                  <a:schemeClr val="dk1"/>
                </a:solidFill>
              </a:rPr>
              <a:t>std::cout &lt;&lt; "x1 = " &lt;&lt; result;</a:t>
            </a:r>
            <a:br>
              <a:rPr lang="ja" sz="1250">
                <a:solidFill>
                  <a:schemeClr val="dk1"/>
                </a:solidFill>
              </a:rPr>
            </a:br>
            <a:r>
              <a:rPr lang="ja" sz="1250">
                <a:solidFill>
                  <a:schemeClr val="dk1"/>
                </a:solidFill>
              </a:rPr>
              <a:t>std::cout &lt;&lt; "Estimated precision in bits: " &lt;&lt; result-&gt;GetLogPrecision() &lt;&lt; std::endl;</a:t>
            </a:r>
            <a:br>
              <a:rPr lang="ja" sz="1250">
                <a:solidFill>
                  <a:schemeClr val="dk1"/>
                </a:solidFill>
              </a:rPr>
            </a:br>
            <a:r>
              <a:rPr lang="ja" sz="1250">
                <a:solidFill>
                  <a:schemeClr val="dk1"/>
                </a:solidFill>
              </a:rPr>
              <a:t>result &lt;&lt; std::endl;</a:t>
            </a:r>
            <a:endParaRPr sz="1250">
              <a:solidFill>
                <a:schemeClr val="dk1"/>
              </a:solidFill>
            </a:endParaRPr>
          </a:p>
          <a:p>
            <a:pPr indent="0" lvl="0" marL="0" rtl="0" algn="l">
              <a:lnSpc>
                <a:spcPct val="95000"/>
              </a:lnSpc>
              <a:spcBef>
                <a:spcPts val="1200"/>
              </a:spcBef>
              <a:spcAft>
                <a:spcPts val="1200"/>
              </a:spcAft>
              <a:buSzPts val="275"/>
              <a:buNone/>
            </a:pPr>
            <a:r>
              <a:rPr lang="ja" sz="1250">
                <a:solidFill>
                  <a:schemeClr val="dk1"/>
                </a:solidFill>
              </a:rPr>
              <a:t>このような形で、準同型演算後の暗号文を復号し、演算結果を表示する。</a:t>
            </a:r>
            <a:endParaRPr sz="125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3. 準同型演算　～復号・演算結果表示～</a:t>
            </a:r>
            <a:endParaRPr/>
          </a:p>
        </p:txBody>
      </p:sp>
      <p:sp>
        <p:nvSpPr>
          <p:cNvPr id="109" name="Google Shape;109;p22"/>
          <p:cNvSpPr txBox="1"/>
          <p:nvPr>
            <p:ph idx="1" type="body"/>
          </p:nvPr>
        </p:nvSpPr>
        <p:spPr>
          <a:xfrm>
            <a:off x="311700" y="1152475"/>
            <a:ext cx="8520600" cy="3651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100"/>
              <a:buNone/>
            </a:pPr>
            <a:r>
              <a:rPr lang="ja" sz="1250">
                <a:solidFill>
                  <a:schemeClr val="dk1"/>
                </a:solidFill>
              </a:rPr>
              <a:t>Plaintext result;</a:t>
            </a:r>
            <a:br>
              <a:rPr lang="ja" sz="1250">
                <a:solidFill>
                  <a:schemeClr val="dk1"/>
                </a:solidFill>
              </a:rPr>
            </a:br>
            <a:r>
              <a:rPr lang="ja" sz="1250">
                <a:solidFill>
                  <a:schemeClr val="dk1"/>
                </a:solidFill>
              </a:rPr>
              <a:t>std::cout.precision(8);</a:t>
            </a:r>
            <a:endParaRPr sz="1250">
              <a:solidFill>
                <a:schemeClr val="dk1"/>
              </a:solidFill>
            </a:endParaRPr>
          </a:p>
          <a:p>
            <a:pPr indent="0" lvl="0" marL="0" rtl="0" algn="l">
              <a:lnSpc>
                <a:spcPct val="95000"/>
              </a:lnSpc>
              <a:spcBef>
                <a:spcPts val="1200"/>
              </a:spcBef>
              <a:spcAft>
                <a:spcPts val="0"/>
              </a:spcAft>
              <a:buSzPts val="1100"/>
              <a:buNone/>
            </a:pPr>
            <a:r>
              <a:rPr lang="ja" sz="1250">
                <a:solidFill>
                  <a:schemeClr val="dk1"/>
                </a:solidFill>
              </a:rPr>
              <a:t>表示の精度を指定。8桁。ノイズをみたいなら15とかにする。</a:t>
            </a:r>
            <a:endParaRPr sz="1250">
              <a:solidFill>
                <a:schemeClr val="dk1"/>
              </a:solidFill>
            </a:endParaRPr>
          </a:p>
          <a:p>
            <a:pPr indent="0" lvl="0" marL="0" rtl="0" algn="l">
              <a:lnSpc>
                <a:spcPct val="95000"/>
              </a:lnSpc>
              <a:spcBef>
                <a:spcPts val="1200"/>
              </a:spcBef>
              <a:spcAft>
                <a:spcPts val="0"/>
              </a:spcAft>
              <a:buSzPts val="1100"/>
              <a:buNone/>
            </a:pPr>
            <a:r>
              <a:t/>
            </a:r>
            <a:endParaRPr sz="1250">
              <a:solidFill>
                <a:schemeClr val="dk1"/>
              </a:solidFill>
            </a:endParaRPr>
          </a:p>
          <a:p>
            <a:pPr indent="0" lvl="0" marL="0" rtl="0" algn="l">
              <a:lnSpc>
                <a:spcPct val="95000"/>
              </a:lnSpc>
              <a:spcBef>
                <a:spcPts val="1200"/>
              </a:spcBef>
              <a:spcAft>
                <a:spcPts val="0"/>
              </a:spcAft>
              <a:buSzPts val="1100"/>
              <a:buNone/>
            </a:pPr>
            <a:r>
              <a:rPr lang="ja" sz="1250">
                <a:solidFill>
                  <a:schemeClr val="dk1"/>
                </a:solidFill>
              </a:rPr>
              <a:t>cc-&gt;Decrypt(keys.secretKey, c1, &amp;result);</a:t>
            </a:r>
            <a:br>
              <a:rPr lang="ja" sz="1250">
                <a:solidFill>
                  <a:schemeClr val="dk1"/>
                </a:solidFill>
              </a:rPr>
            </a:br>
            <a:r>
              <a:rPr lang="ja" sz="1250">
                <a:solidFill>
                  <a:schemeClr val="dk1"/>
                </a:solidFill>
              </a:rPr>
              <a:t>result-&gt;SetLength(batchSize);</a:t>
            </a:r>
            <a:br>
              <a:rPr lang="ja" sz="1250">
                <a:solidFill>
                  <a:schemeClr val="dk1"/>
                </a:solidFill>
              </a:rPr>
            </a:br>
            <a:r>
              <a:rPr lang="ja" sz="1250">
                <a:solidFill>
                  <a:schemeClr val="dk1"/>
                </a:solidFill>
              </a:rPr>
              <a:t>std::cout &lt;&lt; "x1 = " &lt;&lt; result;</a:t>
            </a:r>
            <a:br>
              <a:rPr lang="ja" sz="1250">
                <a:solidFill>
                  <a:schemeClr val="dk1"/>
                </a:solidFill>
              </a:rPr>
            </a:br>
            <a:r>
              <a:rPr lang="ja" sz="1250">
                <a:solidFill>
                  <a:schemeClr val="dk1"/>
                </a:solidFill>
              </a:rPr>
              <a:t>std::cout &lt;&lt; "Estimated precision in bits: " &lt;&lt; result-&gt;GetLogPrecision() &lt;&lt; std::endl;</a:t>
            </a:r>
            <a:br>
              <a:rPr lang="ja" sz="1250">
                <a:solidFill>
                  <a:schemeClr val="dk1"/>
                </a:solidFill>
              </a:rPr>
            </a:br>
            <a:r>
              <a:rPr lang="ja" sz="1250">
                <a:solidFill>
                  <a:schemeClr val="dk1"/>
                </a:solidFill>
              </a:rPr>
              <a:t>result &lt;&lt; std::endl;</a:t>
            </a:r>
            <a:endParaRPr sz="1250">
              <a:solidFill>
                <a:schemeClr val="dk1"/>
              </a:solidFill>
            </a:endParaRPr>
          </a:p>
          <a:p>
            <a:pPr indent="0" lvl="0" marL="0" rtl="0" algn="l">
              <a:lnSpc>
                <a:spcPct val="95000"/>
              </a:lnSpc>
              <a:spcBef>
                <a:spcPts val="1200"/>
              </a:spcBef>
              <a:spcAft>
                <a:spcPts val="1200"/>
              </a:spcAft>
              <a:buSzPts val="275"/>
              <a:buNone/>
            </a:pPr>
            <a:r>
              <a:rPr lang="ja" sz="1250">
                <a:solidFill>
                  <a:schemeClr val="dk1"/>
                </a:solidFill>
              </a:rPr>
              <a:t>このような形で、準同型演算後の暗号文を復号し、演算結果を表示する。</a:t>
            </a:r>
            <a:endParaRPr sz="125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5" name="Google Shape;115;p23"/>
          <p:cNvSpPr txBox="1"/>
          <p:nvPr>
            <p:ph idx="1" type="body"/>
          </p:nvPr>
        </p:nvSpPr>
        <p:spPr>
          <a:xfrm>
            <a:off x="311700" y="1152475"/>
            <a:ext cx="8520600" cy="3651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ja" sz="2450">
                <a:solidFill>
                  <a:schemeClr val="dk1"/>
                </a:solidFill>
              </a:rPr>
              <a:t>というのが、CKKS方式による単純な準同型演算の流れ。</a:t>
            </a:r>
            <a:endParaRPr sz="2450">
              <a:solidFill>
                <a:schemeClr val="dk1"/>
              </a:solidFill>
            </a:endParaRPr>
          </a:p>
          <a:p>
            <a:pPr indent="0" lvl="0" marL="0" rtl="0" algn="l">
              <a:lnSpc>
                <a:spcPct val="95000"/>
              </a:lnSpc>
              <a:spcBef>
                <a:spcPts val="1200"/>
              </a:spcBef>
              <a:spcAft>
                <a:spcPts val="0"/>
              </a:spcAft>
              <a:buSzPts val="275"/>
              <a:buNone/>
            </a:pPr>
            <a:r>
              <a:t/>
            </a:r>
            <a:endParaRPr sz="2450">
              <a:solidFill>
                <a:schemeClr val="dk1"/>
              </a:solidFill>
            </a:endParaRPr>
          </a:p>
          <a:p>
            <a:pPr indent="0" lvl="0" marL="0" rtl="0" algn="l">
              <a:lnSpc>
                <a:spcPct val="95000"/>
              </a:lnSpc>
              <a:spcBef>
                <a:spcPts val="1200"/>
              </a:spcBef>
              <a:spcAft>
                <a:spcPts val="1200"/>
              </a:spcAft>
              <a:buSzPts val="275"/>
              <a:buNone/>
            </a:pPr>
            <a:r>
              <a:rPr lang="ja" sz="2450">
                <a:solidFill>
                  <a:schemeClr val="dk1"/>
                </a:solidFill>
              </a:rPr>
              <a:t>ノイズ低減のため、BootStrapなどを挟む場合はどうなるのか。</a:t>
            </a:r>
            <a:endParaRPr sz="245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