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5af0f5ee2cd29dbe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5af0f5ee2cd29dbe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引用：https://www.ism.ac.jp/openhouse/2024/index/DrMURAKAMI.pdf</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d427cb08b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d427cb08b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427cb08b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d427cb08b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2de069d108b1bdd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2de069d108b1bdd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2de069d108b1bdd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2de069d108b1bdd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427cb08b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427cb08b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427cb08b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d427cb08b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4002eab451afd0f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4002eab451afd0f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4002eab451afd0f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4002eab451afd0f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5af0f5ee2cd29dbe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5af0f5ee2cd29dbe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5af0f5ee2cd29dbe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5af0f5ee2cd29dbe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5af0f5ee2cd29dbe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5af0f5ee2cd29dbe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4002eab451afd0f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4002eab451afd0f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1090353ade4905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1090353ade4905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5cb64da6f9d80c67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5cb64da6f9d80c67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d34d5657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dd34d5657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ja"/>
              <a:t>差分プライバシー理解ログ</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p:cNvPicPr preferRelativeResize="0"/>
          <p:nvPr/>
        </p:nvPicPr>
        <p:blipFill>
          <a:blip r:embed="rId3">
            <a:alphaModFix/>
          </a:blip>
          <a:stretch>
            <a:fillRect/>
          </a:stretch>
        </p:blipFill>
        <p:spPr>
          <a:xfrm>
            <a:off x="414925" y="117725"/>
            <a:ext cx="7386349" cy="4616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パーソナルデータ取られるってどんなケースじゃ？</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ja"/>
              <a:t>統計情報(googlemapのリアルタイム混雑状況)</a:t>
            </a:r>
            <a:endParaRPr/>
          </a:p>
          <a:p>
            <a:pPr indent="0" lvl="0" marL="0" rtl="0" algn="l">
              <a:spcBef>
                <a:spcPts val="1200"/>
              </a:spcBef>
              <a:spcAft>
                <a:spcPts val="0"/>
              </a:spcAft>
              <a:buClr>
                <a:schemeClr val="dk1"/>
              </a:buClr>
              <a:buSzPct val="61111"/>
              <a:buFont typeface="Arial"/>
              <a:buNone/>
            </a:pPr>
            <a:r>
              <a:rPr lang="ja"/>
              <a:t>→</a:t>
            </a:r>
            <a:r>
              <a:rPr lang="ja"/>
              <a:t>特定の個人のパラメータというか情報が取られる可能性が</a:t>
            </a:r>
            <a:endParaRPr/>
          </a:p>
          <a:p>
            <a:pPr indent="0" lvl="0" marL="0" rtl="0" algn="l">
              <a:spcBef>
                <a:spcPts val="1200"/>
              </a:spcBef>
              <a:spcAft>
                <a:spcPts val="0"/>
              </a:spcAft>
              <a:buNone/>
            </a:pPr>
            <a:r>
              <a:rPr lang="ja"/>
              <a:t>学習済み機械学習モデル</a:t>
            </a:r>
            <a:endParaRPr/>
          </a:p>
          <a:p>
            <a:pPr indent="0" lvl="0" marL="0" rtl="0" algn="l">
              <a:spcBef>
                <a:spcPts val="1200"/>
              </a:spcBef>
              <a:spcAft>
                <a:spcPts val="0"/>
              </a:spcAft>
              <a:buNone/>
            </a:pPr>
            <a:r>
              <a:rPr lang="ja"/>
              <a:t>→誰が学習対象かバレる可能性が</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67" name="Google Shape;67;p15"/>
          <p:cNvPicPr preferRelativeResize="0"/>
          <p:nvPr/>
        </p:nvPicPr>
        <p:blipFill>
          <a:blip r:embed="rId3">
            <a:alphaModFix/>
          </a:blip>
          <a:stretch>
            <a:fillRect/>
          </a:stretch>
        </p:blipFill>
        <p:spPr>
          <a:xfrm>
            <a:off x="363300" y="2846989"/>
            <a:ext cx="3798950" cy="2028850"/>
          </a:xfrm>
          <a:prstGeom prst="rect">
            <a:avLst/>
          </a:prstGeom>
          <a:noFill/>
          <a:ln>
            <a:noFill/>
          </a:ln>
        </p:spPr>
      </p:pic>
      <p:pic>
        <p:nvPicPr>
          <p:cNvPr id="68" name="Google Shape;68;p15"/>
          <p:cNvPicPr preferRelativeResize="0"/>
          <p:nvPr/>
        </p:nvPicPr>
        <p:blipFill>
          <a:blip r:embed="rId4">
            <a:alphaModFix/>
          </a:blip>
          <a:stretch>
            <a:fillRect/>
          </a:stretch>
        </p:blipFill>
        <p:spPr>
          <a:xfrm>
            <a:off x="4452975" y="2846984"/>
            <a:ext cx="4430924" cy="198613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差分プライバシーの立ち位置</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ja"/>
              <a:t>情報を秘匿しながら計算する方法には</a:t>
            </a:r>
            <a:endParaRPr/>
          </a:p>
          <a:p>
            <a:pPr indent="0" lvl="0" marL="0" rtl="0" algn="l">
              <a:spcBef>
                <a:spcPts val="1200"/>
              </a:spcBef>
              <a:spcAft>
                <a:spcPts val="0"/>
              </a:spcAft>
              <a:buNone/>
            </a:pPr>
            <a:r>
              <a:rPr lang="ja"/>
              <a:t>秘密計算や匿名化などがあるが</a:t>
            </a:r>
            <a:endParaRPr/>
          </a:p>
          <a:p>
            <a:pPr indent="0" lvl="0" marL="0" rtl="0" algn="l">
              <a:spcBef>
                <a:spcPts val="1200"/>
              </a:spcBef>
              <a:spcAft>
                <a:spcPts val="0"/>
              </a:spcAft>
              <a:buNone/>
            </a:pPr>
            <a:r>
              <a:rPr lang="ja"/>
              <a:t>秘密計算・・・計算量が大きくデータセットが大規模になると利用が難しい。そもそもこちら</a:t>
            </a:r>
            <a:r>
              <a:rPr b="1" lang="ja"/>
              <a:t>は</a:t>
            </a:r>
            <a:r>
              <a:rPr b="1" lang="ja"/>
              <a:t>計算過程</a:t>
            </a:r>
            <a:r>
              <a:rPr lang="ja"/>
              <a:t>をみせない。</a:t>
            </a:r>
            <a:endParaRPr/>
          </a:p>
          <a:p>
            <a:pPr indent="0" lvl="0" marL="0" rtl="0" algn="l">
              <a:spcBef>
                <a:spcPts val="1200"/>
              </a:spcBef>
              <a:spcAft>
                <a:spcPts val="0"/>
              </a:spcAft>
              <a:buNone/>
            </a:pPr>
            <a:r>
              <a:rPr lang="ja"/>
              <a:t>匿名化・・・統計量の上手い匿名化の粒度が難しい、匿名化しすぎるとちゃんと計算できない</a:t>
            </a:r>
            <a:endParaRPr/>
          </a:p>
          <a:p>
            <a:pPr indent="0" lvl="0" marL="0" rtl="0" algn="l">
              <a:spcBef>
                <a:spcPts val="1200"/>
              </a:spcBef>
              <a:spcAft>
                <a:spcPts val="0"/>
              </a:spcAft>
              <a:buNone/>
            </a:pPr>
            <a:r>
              <a:rPr lang="ja"/>
              <a:t>これらを解消する方法論はあるが、差分プライバシーは別のアプローチとなる</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差分プライバシー・・・元のデータセットに多少の摂動を与えることでプライバシーを保護できる。</a:t>
            </a:r>
            <a:r>
              <a:rPr b="1" lang="ja"/>
              <a:t>計算結果</a:t>
            </a:r>
            <a:r>
              <a:rPr lang="ja"/>
              <a:t>に加工する。</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ja"/>
              <a:t>機械学習なんかにも活用しやすく、多分そこを狙った技術かと思われる</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差分プライバシーとはなにをしているのか。</a:t>
            </a:r>
            <a:r>
              <a:rPr lang="ja"/>
              <a:t>概念編</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そもそも統計情報からプライバシーデータをとられるのは、同じようなデータの集まりを比較したときの差分から情報を取られる。(前述の通り。)</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そこで差分プライバシーは</a:t>
            </a:r>
            <a:r>
              <a:rPr lang="ja"/>
              <a:t>何をするかと言うと、データの集まりに対し摂動（ノイズ）を加える。</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ja"/>
              <a:t>そうすることで、攻撃者は同じようなデータの集まりを比較したときの差分が個人情報の変化によるものか、摂動によるものなのか区別がつかなくなる。</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差分プライバシーとはなにをしているのか。具体例編</a:t>
            </a:r>
            <a:endParaRPr/>
          </a:p>
        </p:txBody>
      </p:sp>
      <p:sp>
        <p:nvSpPr>
          <p:cNvPr id="86" name="Google Shape;86;p18"/>
          <p:cNvSpPr txBox="1"/>
          <p:nvPr>
            <p:ph idx="1" type="body"/>
          </p:nvPr>
        </p:nvSpPr>
        <p:spPr>
          <a:xfrm>
            <a:off x="311700" y="1152475"/>
            <a:ext cx="8520600" cy="37845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0"/>
              </a:spcAft>
              <a:buNone/>
            </a:pPr>
            <a:r>
              <a:rPr lang="ja"/>
              <a:t>ちょっとふわっとした概念だったので、具体例で確認。</a:t>
            </a:r>
            <a:endParaRPr/>
          </a:p>
          <a:p>
            <a:pPr indent="0" lvl="0" marL="0" rtl="0" algn="l">
              <a:spcBef>
                <a:spcPts val="1200"/>
              </a:spcBef>
              <a:spcAft>
                <a:spcPts val="0"/>
              </a:spcAft>
              <a:buNone/>
            </a:pPr>
            <a:r>
              <a:rPr lang="ja"/>
              <a:t>ある病院の患者1000人の身長と体重の平均値の統計量をデータとするケース。</a:t>
            </a:r>
            <a:endParaRPr/>
          </a:p>
          <a:p>
            <a:pPr indent="0" lvl="0" marL="0" rtl="0" algn="l">
              <a:spcBef>
                <a:spcPts val="1200"/>
              </a:spcBef>
              <a:spcAft>
                <a:spcPts val="0"/>
              </a:spcAft>
              <a:buNone/>
            </a:pPr>
            <a:r>
              <a:rPr lang="ja"/>
              <a:t>データA：1000人の身長と体重の平均値。</a:t>
            </a:r>
            <a:endParaRPr/>
          </a:p>
          <a:p>
            <a:pPr indent="0" lvl="0" marL="0" rtl="0" algn="l">
              <a:spcBef>
                <a:spcPts val="1200"/>
              </a:spcBef>
              <a:spcAft>
                <a:spcPts val="0"/>
              </a:spcAft>
              <a:buNone/>
            </a:pPr>
            <a:r>
              <a:rPr lang="ja"/>
              <a:t>データB：患者A(身長195cm、体重93kg)が退院した後の999人の身長と体重の平均値。</a:t>
            </a:r>
            <a:endParaRPr/>
          </a:p>
          <a:p>
            <a:pPr indent="0" lvl="0" marL="0" rtl="0" algn="l">
              <a:spcBef>
                <a:spcPts val="1200"/>
              </a:spcBef>
              <a:spcAft>
                <a:spcPts val="0"/>
              </a:spcAft>
              <a:buNone/>
            </a:pPr>
            <a:r>
              <a:rPr lang="ja"/>
              <a:t>※データA取得の翌日、患者Aが退院し、データBを取得したなどと考えてみる。</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摂動なしの時、データAとBの平均値の差分を取ると</a:t>
            </a:r>
            <a:endParaRPr/>
          </a:p>
          <a:p>
            <a:pPr indent="0" lvl="0" marL="0" rtl="0" algn="l">
              <a:spcBef>
                <a:spcPts val="1200"/>
              </a:spcBef>
              <a:spcAft>
                <a:spcPts val="0"/>
              </a:spcAft>
              <a:buNone/>
            </a:pPr>
            <a:r>
              <a:rPr lang="ja"/>
              <a:t>患者Aの身長と体重がバレてしまう。。。</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ct val="61111"/>
              <a:buFont typeface="Arial"/>
              <a:buNone/>
            </a:pPr>
            <a:r>
              <a:rPr lang="ja"/>
              <a:t>しかし、摂動を加えたならば、</a:t>
            </a:r>
            <a:endParaRPr/>
          </a:p>
          <a:p>
            <a:pPr indent="0" lvl="0" marL="0" rtl="0" algn="l">
              <a:spcBef>
                <a:spcPts val="1200"/>
              </a:spcBef>
              <a:spcAft>
                <a:spcPts val="0"/>
              </a:spcAft>
              <a:buClr>
                <a:schemeClr val="dk1"/>
              </a:buClr>
              <a:buSzPct val="61111"/>
              <a:buFont typeface="Arial"/>
              <a:buNone/>
            </a:pPr>
            <a:r>
              <a:rPr lang="ja"/>
              <a:t>差分が摂動によるものか、本当に患者Aの抜けたものによるものかわからない。</a:t>
            </a:r>
            <a:endParaRPr/>
          </a:p>
          <a:p>
            <a:pPr indent="0" lvl="0" marL="0" rtl="0" algn="l">
              <a:spcBef>
                <a:spcPts val="1200"/>
              </a:spcBef>
              <a:spcAft>
                <a:spcPts val="1200"/>
              </a:spcAft>
              <a:buClr>
                <a:schemeClr val="dk1"/>
              </a:buClr>
              <a:buSzPct val="61111"/>
              <a:buFont typeface="Arial"/>
              <a:buNone/>
            </a:pPr>
            <a:r>
              <a:rPr lang="ja"/>
              <a:t>→これが差分プライバシーで実現する安全性。</a:t>
            </a:r>
            <a:endParaRPr/>
          </a:p>
        </p:txBody>
      </p:sp>
      <p:pic>
        <p:nvPicPr>
          <p:cNvPr id="87" name="Google Shape;87;p18"/>
          <p:cNvPicPr preferRelativeResize="0"/>
          <p:nvPr/>
        </p:nvPicPr>
        <p:blipFill>
          <a:blip r:embed="rId3">
            <a:alphaModFix/>
          </a:blip>
          <a:stretch>
            <a:fillRect/>
          </a:stretch>
        </p:blipFill>
        <p:spPr>
          <a:xfrm>
            <a:off x="5209852" y="1272975"/>
            <a:ext cx="3760076" cy="3257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659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ja" sz="2700"/>
              <a:t>差分プライバシーとはなにをしているのか。数式編</a:t>
            </a:r>
            <a:endParaRPr sz="2700"/>
          </a:p>
          <a:p>
            <a:pPr indent="0" lvl="0" marL="0" rtl="0" algn="l">
              <a:spcBef>
                <a:spcPts val="0"/>
              </a:spcBef>
              <a:spcAft>
                <a:spcPts val="0"/>
              </a:spcAft>
              <a:buSzPts val="990"/>
              <a:buNone/>
            </a:pPr>
            <a:r>
              <a:t/>
            </a:r>
            <a:endParaRPr sz="2220"/>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会社で書いたやつを載っけよう。</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ja"/>
              <a:t>何が出来ればいいかというと、摂動Yが外れ値によるものか、ノイズによるものかわからなければいい。</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差分プライバシーのポイント</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ja"/>
              <a:t>統計情報については、</a:t>
            </a:r>
            <a:r>
              <a:rPr lang="ja"/>
              <a:t>計算結果において、最も極端な個人データの影響を隠したい。攻撃者は外れ値を特定しやすいから。</a:t>
            </a:r>
            <a:endParaRPr/>
          </a:p>
          <a:p>
            <a:pPr indent="0" lvl="0" marL="0" rtl="0" algn="l">
              <a:spcBef>
                <a:spcPts val="1200"/>
              </a:spcBef>
              <a:spcAft>
                <a:spcPts val="0"/>
              </a:spcAft>
              <a:buNone/>
            </a:pPr>
            <a:r>
              <a:rPr lang="ja"/>
              <a:t>→ということで、その外れ値の度合いΔf</a:t>
            </a:r>
            <a:r>
              <a:rPr lang="ja"/>
              <a:t>、Δf2</a:t>
            </a:r>
            <a:r>
              <a:rPr lang="ja"/>
              <a:t>に合わせたプライバシー予算εを決めるのが大事。</a:t>
            </a:r>
            <a:endParaRPr/>
          </a:p>
          <a:p>
            <a:pPr indent="0" lvl="0" marL="0" rtl="0" algn="l">
              <a:spcBef>
                <a:spcPts val="1200"/>
              </a:spcBef>
              <a:spcAft>
                <a:spcPts val="0"/>
              </a:spcAft>
              <a:buNone/>
            </a:pPr>
            <a:r>
              <a:rPr lang="ja"/>
              <a:t>パラメータの話は後述。</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ct val="61111"/>
              <a:buFont typeface="Arial"/>
              <a:buNone/>
            </a:pPr>
            <a:r>
              <a:rPr lang="ja"/>
              <a:t>ようは、</a:t>
            </a:r>
            <a:r>
              <a:rPr lang="ja"/>
              <a:t>安全性と精度のバランスが必要。</a:t>
            </a:r>
            <a:endParaRPr/>
          </a:p>
          <a:p>
            <a:pPr indent="0" lvl="0" marL="0" rtl="0" algn="l">
              <a:spcBef>
                <a:spcPts val="1200"/>
              </a:spcBef>
              <a:spcAft>
                <a:spcPts val="0"/>
              </a:spcAft>
              <a:buClr>
                <a:schemeClr val="dk1"/>
              </a:buClr>
              <a:buSzPct val="61111"/>
              <a:buFont typeface="Arial"/>
              <a:buNone/>
            </a:pPr>
            <a:r>
              <a:rPr lang="ja"/>
              <a:t>摂動が大きすぎる→安全性は◎。精度は×。</a:t>
            </a:r>
            <a:br>
              <a:rPr lang="ja"/>
            </a:br>
            <a:r>
              <a:rPr lang="ja"/>
              <a:t>本来の統計量から大きくずれるため。本来の平均値からずれすぎると安全でもちゃんと分析できない。。。</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ja"/>
              <a:t>摂動が小さすぎる→安全性は×。精度は◎。逆ということ。</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差分プライバシーの実現型 中央集権型</a:t>
            </a:r>
            <a:endParaRPr/>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ja"/>
              <a:t>中央差分プライバシー（CDP）</a:t>
            </a:r>
            <a:endParaRPr/>
          </a:p>
          <a:p>
            <a:pPr indent="0" lvl="0" marL="0" rtl="0" algn="l">
              <a:spcBef>
                <a:spcPts val="1200"/>
              </a:spcBef>
              <a:spcAft>
                <a:spcPts val="0"/>
              </a:spcAft>
              <a:buNone/>
            </a:pPr>
            <a:r>
              <a:rPr lang="ja"/>
              <a:t>各</a:t>
            </a:r>
            <a:r>
              <a:rPr lang="ja"/>
              <a:t>個人データを事業者が集約する型。</a:t>
            </a:r>
            <a:endParaRPr/>
          </a:p>
          <a:p>
            <a:pPr indent="0" lvl="0" marL="0" rtl="0" algn="l">
              <a:spcBef>
                <a:spcPts val="1200"/>
              </a:spcBef>
              <a:spcAft>
                <a:spcPts val="0"/>
              </a:spcAft>
              <a:buNone/>
            </a:pPr>
            <a:r>
              <a:rPr lang="ja"/>
              <a:t>集約後に統計量計算や機械学習モデルを学習させる。</a:t>
            </a:r>
            <a:endParaRPr/>
          </a:p>
          <a:p>
            <a:pPr indent="0" lvl="0" marL="0" rtl="0" algn="l">
              <a:spcBef>
                <a:spcPts val="1200"/>
              </a:spcBef>
              <a:spcAft>
                <a:spcPts val="0"/>
              </a:spcAft>
              <a:buNone/>
            </a:pPr>
            <a:r>
              <a:rPr lang="ja"/>
              <a:t>それらの計算後、摂動を付与することで差分プライバシーによる安全性を実現。</a:t>
            </a:r>
            <a:endParaRPr/>
          </a:p>
          <a:p>
            <a:pPr indent="0" lvl="0" marL="0" rtl="0" algn="l">
              <a:spcBef>
                <a:spcPts val="1200"/>
              </a:spcBef>
              <a:spcAft>
                <a:spcPts val="0"/>
              </a:spcAft>
              <a:buNone/>
            </a:pPr>
            <a:r>
              <a:rPr lang="ja"/>
              <a:t>→しかし集約元DBが攻撃により侵害されると元も子もない。</a:t>
            </a:r>
            <a:br>
              <a:rPr lang="ja"/>
            </a:br>
            <a:r>
              <a:rPr b="1" lang="ja"/>
              <a:t>サーバを信用するから。</a:t>
            </a:r>
            <a:endParaRPr b="1"/>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06" name="Google Shape;106;p21"/>
          <p:cNvPicPr preferRelativeResize="0"/>
          <p:nvPr/>
        </p:nvPicPr>
        <p:blipFill rotWithShape="1">
          <a:blip r:embed="rId3">
            <a:alphaModFix/>
          </a:blip>
          <a:srcRect b="45125" l="-2220" r="2220" t="24214"/>
          <a:stretch/>
        </p:blipFill>
        <p:spPr>
          <a:xfrm>
            <a:off x="5706425" y="2716176"/>
            <a:ext cx="3281799" cy="212432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差分プライバシーの実現型 </a:t>
            </a:r>
            <a:r>
              <a:rPr lang="ja"/>
              <a:t>ローカル型</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Clr>
                <a:schemeClr val="dk1"/>
              </a:buClr>
              <a:buSzPct val="61111"/>
              <a:buFont typeface="Arial"/>
              <a:buNone/>
            </a:pPr>
            <a:r>
              <a:rPr lang="ja"/>
              <a:t>局所型差分プライバシー（LDP）</a:t>
            </a:r>
            <a:endParaRPr/>
          </a:p>
          <a:p>
            <a:pPr indent="0" lvl="0" marL="0" rtl="0" algn="l">
              <a:spcBef>
                <a:spcPts val="1200"/>
              </a:spcBef>
              <a:spcAft>
                <a:spcPts val="0"/>
              </a:spcAft>
              <a:buNone/>
            </a:pPr>
            <a:r>
              <a:rPr lang="ja"/>
              <a:t>中央集権型と異なり、ユーザ側で摂動を加えてから渡す。</a:t>
            </a:r>
            <a:endParaRPr/>
          </a:p>
          <a:p>
            <a:pPr indent="0" lvl="0" marL="0" rtl="0" algn="l">
              <a:spcBef>
                <a:spcPts val="1200"/>
              </a:spcBef>
              <a:spcAft>
                <a:spcPts val="0"/>
              </a:spcAft>
              <a:buNone/>
            </a:pPr>
            <a:r>
              <a:rPr lang="ja"/>
              <a:t>集約元DBが攻撃受けても流出の恐れなし。</a:t>
            </a:r>
            <a:br>
              <a:rPr lang="ja"/>
            </a:br>
            <a:r>
              <a:rPr b="1" lang="ja"/>
              <a:t>サーバを信用しない。</a:t>
            </a:r>
            <a:endParaRPr b="1"/>
          </a:p>
          <a:p>
            <a:pPr indent="0" lvl="0" marL="0" rtl="0" algn="l">
              <a:spcBef>
                <a:spcPts val="1200"/>
              </a:spcBef>
              <a:spcAft>
                <a:spcPts val="0"/>
              </a:spcAft>
              <a:buNone/>
            </a:pPr>
            <a:r>
              <a:rPr lang="ja"/>
              <a:t>→各ユーザが摂動を加えるので、</a:t>
            </a:r>
            <a:br>
              <a:rPr lang="ja"/>
            </a:br>
            <a:r>
              <a:rPr lang="ja"/>
              <a:t>合計摂動量が大きくなる。よって精度が良くない場合も。</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ja"/>
              <a:t>→そこでMPC（マルチパーティ型秘密計算や準同型暗号　を使うことで良いとこ取りが出来ないかという話。</a:t>
            </a:r>
            <a:br>
              <a:rPr lang="ja"/>
            </a:br>
            <a:r>
              <a:rPr lang="ja"/>
              <a:t>ユーザ側で摂動を付与ではなく、分散して暗号化したデータを置いておけば、集約元DBが1個やられても問題なし。</a:t>
            </a:r>
            <a:br>
              <a:rPr lang="ja"/>
            </a:br>
            <a:r>
              <a:rPr lang="ja"/>
              <a:t>かつ各サーバで暗号化したまま計算。計算後にまとめて摂動付与であればCDPと同じ精度となる。</a:t>
            </a:r>
            <a:endParaRPr/>
          </a:p>
        </p:txBody>
      </p:sp>
      <p:pic>
        <p:nvPicPr>
          <p:cNvPr id="113" name="Google Shape;113;p22"/>
          <p:cNvPicPr preferRelativeResize="0"/>
          <p:nvPr/>
        </p:nvPicPr>
        <p:blipFill rotWithShape="1">
          <a:blip r:embed="rId3">
            <a:alphaModFix/>
          </a:blip>
          <a:srcRect b="39331" l="5915" r="1944" t="46121"/>
          <a:stretch/>
        </p:blipFill>
        <p:spPr>
          <a:xfrm>
            <a:off x="4704875" y="1402775"/>
            <a:ext cx="4127425" cy="1470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差分プライバシーのメカニズム ラプラスメカニズム</a:t>
            </a:r>
            <a:endParaRPr/>
          </a:p>
        </p:txBody>
      </p:sp>
      <p:sp>
        <p:nvSpPr>
          <p:cNvPr id="119" name="Google Shape;119;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ja"/>
              <a:t>純粋な</a:t>
            </a:r>
            <a:r>
              <a:rPr lang="ja"/>
              <a:t>差分プライバシー（ε-DP）と呼ばれる。</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出力値に摂動Yを与える、このYがラプラス分布に従う</a:t>
            </a:r>
            <a:endParaRPr/>
          </a:p>
          <a:p>
            <a:pPr indent="0" lvl="0" marL="0" rtl="0" algn="l">
              <a:spcBef>
                <a:spcPts val="1200"/>
              </a:spcBef>
              <a:spcAft>
                <a:spcPts val="0"/>
              </a:spcAft>
              <a:buNone/>
            </a:pPr>
            <a:r>
              <a:rPr lang="ja"/>
              <a:t>M(x) = f(x) + Y</a:t>
            </a:r>
            <a:endParaRPr/>
          </a:p>
          <a:p>
            <a:pPr indent="0" lvl="0" marL="0" rtl="0" algn="l">
              <a:spcBef>
                <a:spcPts val="1200"/>
              </a:spcBef>
              <a:spcAft>
                <a:spcPts val="0"/>
              </a:spcAft>
              <a:buNone/>
            </a:pPr>
            <a:r>
              <a:rPr lang="ja"/>
              <a:t>ラプラス分布・・・正規分布よりももっと尖度が大きい（正規分布は3、ラプラス分布は6） + 裾が厚い（外れ値も正規分布よりは多い。）</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つまり、与えるYは期待値に近くとなるか 外れ値気味になる。</a:t>
            </a:r>
            <a:endParaRPr/>
          </a:p>
          <a:p>
            <a:pPr indent="0" lvl="0" marL="0" rtl="0" algn="l">
              <a:spcBef>
                <a:spcPts val="1200"/>
              </a:spcBef>
              <a:spcAft>
                <a:spcPts val="1200"/>
              </a:spcAft>
              <a:buNone/>
            </a:pPr>
            <a:r>
              <a:rPr lang="ja"/>
              <a:t>ここの摂動Yの決め方ってのは次頁で。</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ja"/>
              <a:t>差分プライバシーのメカニズム ラプラスメカニズム</a:t>
            </a:r>
            <a:endParaRPr/>
          </a:p>
        </p:txBody>
      </p:sp>
      <p:sp>
        <p:nvSpPr>
          <p:cNvPr id="125" name="Google Shape;125;p24"/>
          <p:cNvSpPr txBox="1"/>
          <p:nvPr>
            <p:ph idx="1" type="body"/>
          </p:nvPr>
        </p:nvSpPr>
        <p:spPr>
          <a:xfrm>
            <a:off x="311700" y="1152475"/>
            <a:ext cx="8520600" cy="39051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ja" sz="3073"/>
              <a:t>摂動Yのきまり方</a:t>
            </a:r>
            <a:endParaRPr sz="3073"/>
          </a:p>
          <a:p>
            <a:pPr indent="0" lvl="0" marL="0" rtl="0" algn="l">
              <a:spcBef>
                <a:spcPts val="1200"/>
              </a:spcBef>
              <a:spcAft>
                <a:spcPts val="0"/>
              </a:spcAft>
              <a:buClr>
                <a:schemeClr val="dk1"/>
              </a:buClr>
              <a:buSzPct val="35799"/>
              <a:buFont typeface="Arial"/>
              <a:buNone/>
            </a:pPr>
            <a:r>
              <a:rPr lang="ja" sz="3073"/>
              <a:t>Y ~ Laplace(0, b)</a:t>
            </a:r>
            <a:endParaRPr sz="3073"/>
          </a:p>
          <a:p>
            <a:pPr indent="0" lvl="0" marL="0" rtl="0" algn="l">
              <a:spcBef>
                <a:spcPts val="1200"/>
              </a:spcBef>
              <a:spcAft>
                <a:spcPts val="0"/>
              </a:spcAft>
              <a:buClr>
                <a:schemeClr val="dk1"/>
              </a:buClr>
              <a:buSzPct val="35799"/>
              <a:buFont typeface="Arial"/>
              <a:buNone/>
            </a:pPr>
            <a:r>
              <a:rPr lang="ja" sz="3073"/>
              <a:t>Yは期待値0、尺度パラメータbとなるラプラス分布に従い、その分布から乱数で拾う。</a:t>
            </a:r>
            <a:endParaRPr sz="3073"/>
          </a:p>
          <a:p>
            <a:pPr indent="0" lvl="0" marL="0" rtl="0" algn="l">
              <a:spcBef>
                <a:spcPts val="1200"/>
              </a:spcBef>
              <a:spcAft>
                <a:spcPts val="0"/>
              </a:spcAft>
              <a:buClr>
                <a:schemeClr val="dk1"/>
              </a:buClr>
              <a:buSzPct val="37309"/>
              <a:buFont typeface="Arial"/>
              <a:buNone/>
            </a:pPr>
            <a:r>
              <a:rPr lang="ja" sz="2948"/>
              <a:t>b = Δf / ε</a:t>
            </a:r>
            <a:endParaRPr sz="2948"/>
          </a:p>
          <a:p>
            <a:pPr indent="0" lvl="0" marL="0" rtl="0" algn="l">
              <a:spcBef>
                <a:spcPts val="1200"/>
              </a:spcBef>
              <a:spcAft>
                <a:spcPts val="0"/>
              </a:spcAft>
              <a:buNone/>
            </a:pPr>
            <a:r>
              <a:rPr lang="ja"/>
              <a:t>b・・・スケールという値。これをラプラス分布の</a:t>
            </a:r>
            <a:r>
              <a:rPr lang="ja"/>
              <a:t>尺度パラメータ</a:t>
            </a:r>
            <a:r>
              <a:rPr lang="ja"/>
              <a:t>としてYを決める。</a:t>
            </a:r>
            <a:br>
              <a:rPr lang="ja"/>
            </a:br>
            <a:r>
              <a:rPr lang="ja"/>
              <a:t>bが大きい→裾が盛り上がっている、外れ値も多く摂動Yが大きくなることもあるが</a:t>
            </a:r>
            <a:br>
              <a:rPr lang="ja"/>
            </a:br>
            <a:r>
              <a:rPr lang="ja"/>
              <a:t>計算結果の精度が担保されない。</a:t>
            </a:r>
            <a:br>
              <a:rPr lang="ja"/>
            </a:br>
            <a:r>
              <a:rPr lang="ja"/>
              <a:t>bが小さい→裾が低いので外れ値少ないが、摂動Yも小さくプライバシーはそんな保護されない。</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ε・・・ユーザーが指定するプライバシー予算。ガードの硬さ。</a:t>
            </a:r>
            <a:br>
              <a:rPr lang="ja"/>
            </a:br>
            <a:r>
              <a:rPr lang="ja"/>
              <a:t>0.01ならめちゃ硬いがスケールが大きくなる。100ならめちゃ緩いがスケールは小さくなる。</a:t>
            </a:r>
            <a:endParaRPr/>
          </a:p>
          <a:p>
            <a:pPr indent="0" lvl="0" marL="0" rtl="0" algn="l">
              <a:spcBef>
                <a:spcPts val="1200"/>
              </a:spcBef>
              <a:spcAft>
                <a:spcPts val="0"/>
              </a:spcAft>
              <a:buNone/>
            </a:pPr>
            <a:r>
              <a:rPr lang="ja"/>
              <a:t>Δf・・・計算するデータの動揺しやすさ。L1</a:t>
            </a:r>
            <a:r>
              <a:rPr lang="ja"/>
              <a:t>感度といい、マンハッタン距離を指す。</a:t>
            </a:r>
            <a:br>
              <a:rPr lang="ja"/>
            </a:br>
            <a:r>
              <a:rPr lang="ja"/>
              <a:t>1つのデータが抜けたときの絶対値。</a:t>
            </a:r>
            <a:endParaRPr/>
          </a:p>
          <a:p>
            <a:pPr indent="0" lvl="0" marL="0" rtl="0" algn="l">
              <a:spcBef>
                <a:spcPts val="1200"/>
              </a:spcBef>
              <a:spcAft>
                <a:spcPts val="1200"/>
              </a:spcAft>
              <a:buNone/>
            </a:pPr>
            <a:r>
              <a:rPr lang="ja"/>
              <a:t>※ラプラス分布の標準偏差は√2b、スケールはbそのもの。</a:t>
            </a:r>
            <a:endParaRPr/>
          </a:p>
        </p:txBody>
      </p:sp>
      <p:pic>
        <p:nvPicPr>
          <p:cNvPr id="126" name="Google Shape;126;p24"/>
          <p:cNvPicPr preferRelativeResize="0"/>
          <p:nvPr/>
        </p:nvPicPr>
        <p:blipFill>
          <a:blip r:embed="rId3">
            <a:alphaModFix/>
          </a:blip>
          <a:stretch>
            <a:fillRect/>
          </a:stretch>
        </p:blipFill>
        <p:spPr>
          <a:xfrm>
            <a:off x="6162075" y="2305075"/>
            <a:ext cx="2362543" cy="2804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ja"/>
              <a:t>差分プライバシーのメカニズム ラプラスメカニズム</a:t>
            </a:r>
            <a:endParaRPr/>
          </a:p>
        </p:txBody>
      </p:sp>
      <p:sp>
        <p:nvSpPr>
          <p:cNvPr id="132" name="Google Shape;132;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lang="ja"/>
              <a:t>具体例</a:t>
            </a:r>
            <a:endParaRPr/>
          </a:p>
          <a:p>
            <a:pPr indent="0" lvl="0" marL="0" rtl="0" algn="l">
              <a:spcBef>
                <a:spcPts val="1200"/>
              </a:spcBef>
              <a:spcAft>
                <a:spcPts val="0"/>
              </a:spcAft>
              <a:buNone/>
            </a:pPr>
            <a:r>
              <a:rPr lang="ja"/>
              <a:t>ある病院の患者1000人の身長と体重の平均値の差分プライバシー（統計量）</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身長最大値が195（平均＋23）とする。体重最大値が93（平均＋23）とする。(患者A)</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患者Aが退院時の平均値への影響Δf = 23 / 1000 + 23 / 1000 = 0.046となる</a:t>
            </a:r>
            <a:br>
              <a:rPr lang="ja"/>
            </a:br>
            <a:r>
              <a:rPr lang="ja"/>
              <a:t>がっちり守りたいので、ε = 0.1とする</a:t>
            </a:r>
            <a:br>
              <a:rPr lang="ja"/>
            </a:br>
            <a:r>
              <a:rPr lang="ja"/>
              <a:t>スケール b = 0.046 / 0.1 = 0.46となる</a:t>
            </a:r>
            <a:endParaRPr/>
          </a:p>
          <a:p>
            <a:pPr indent="0" lvl="0" marL="0" rtl="0" algn="l">
              <a:spcBef>
                <a:spcPts val="1200"/>
              </a:spcBef>
              <a:spcAft>
                <a:spcPts val="0"/>
              </a:spcAft>
              <a:buNone/>
            </a:pPr>
            <a:r>
              <a:rPr lang="ja"/>
              <a:t>摂動Yは（0，0.46）のラプラス分布に従った乱数を取り、身長は-0.52、体重は-0.18とする。</a:t>
            </a:r>
            <a:br>
              <a:rPr lang="ja"/>
            </a:br>
            <a:r>
              <a:rPr lang="ja"/>
              <a:t>身長の出力値 172 - 0.52 = 171.48となる。</a:t>
            </a:r>
            <a:br>
              <a:rPr lang="ja"/>
            </a:br>
            <a:r>
              <a:rPr lang="ja"/>
              <a:t>体重の出力値 70 - 0.18 = 69.82となる。</a:t>
            </a:r>
            <a:endParaRPr/>
          </a:p>
          <a:p>
            <a:pPr indent="0" lvl="0" marL="0" rtl="0" algn="l">
              <a:spcBef>
                <a:spcPts val="1200"/>
              </a:spcBef>
              <a:spcAft>
                <a:spcPts val="1200"/>
              </a:spcAft>
              <a:buNone/>
            </a:pPr>
            <a:r>
              <a:rPr lang="ja"/>
              <a:t>これが要は身長最大値の人が抜けたから平均値が-0.52なのか、差分プライバシーの摂動で-0.52なのか判別できなければOK。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差分プライバシーのメカニズム </a:t>
            </a:r>
            <a:r>
              <a:rPr lang="ja"/>
              <a:t>ガウシアン</a:t>
            </a:r>
            <a:r>
              <a:rPr lang="ja"/>
              <a:t>メカニズム</a:t>
            </a:r>
            <a:endParaRPr/>
          </a:p>
        </p:txBody>
      </p:sp>
      <p:sp>
        <p:nvSpPr>
          <p:cNvPr id="138" name="Google Shape;138;p26"/>
          <p:cNvSpPr txBox="1"/>
          <p:nvPr>
            <p:ph idx="1" type="body"/>
          </p:nvPr>
        </p:nvSpPr>
        <p:spPr>
          <a:xfrm>
            <a:off x="311700" y="1152475"/>
            <a:ext cx="8520600" cy="3783900"/>
          </a:xfrm>
          <a:prstGeom prst="rect">
            <a:avLst/>
          </a:prstGeom>
        </p:spPr>
        <p:txBody>
          <a:bodyPr anchorCtr="0" anchor="t" bIns="91425" lIns="91425" spcFirstLastPara="1" rIns="91425" wrap="square" tIns="91425">
            <a:normAutofit fontScale="47500"/>
          </a:bodyPr>
          <a:lstStyle/>
          <a:p>
            <a:pPr indent="0" lvl="0" marL="0" rtl="0" algn="l">
              <a:spcBef>
                <a:spcPts val="0"/>
              </a:spcBef>
              <a:spcAft>
                <a:spcPts val="0"/>
              </a:spcAft>
              <a:buClr>
                <a:schemeClr val="dk1"/>
              </a:buClr>
              <a:buSzPct val="61111"/>
              <a:buFont typeface="Arial"/>
              <a:buNone/>
            </a:pPr>
            <a:r>
              <a:rPr lang="ja"/>
              <a:t>近似的</a:t>
            </a:r>
            <a:r>
              <a:rPr lang="ja"/>
              <a:t>差分プライバシー（ε-δ-DP）と呼ばれる。</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出力値に摂動Yを与える、このYが</a:t>
            </a:r>
            <a:r>
              <a:rPr lang="ja"/>
              <a:t>正規</a:t>
            </a:r>
            <a:r>
              <a:rPr lang="ja"/>
              <a:t>分布に従う</a:t>
            </a:r>
            <a:endParaRPr/>
          </a:p>
          <a:p>
            <a:pPr indent="0" lvl="0" marL="0" rtl="0" algn="l">
              <a:spcBef>
                <a:spcPts val="1200"/>
              </a:spcBef>
              <a:spcAft>
                <a:spcPts val="0"/>
              </a:spcAft>
              <a:buNone/>
            </a:pPr>
            <a:r>
              <a:rPr lang="ja"/>
              <a:t>M(x) = f(x) + Y</a:t>
            </a:r>
            <a:endParaRPr/>
          </a:p>
          <a:p>
            <a:pPr indent="0" lvl="0" marL="0" rtl="0" algn="l">
              <a:spcBef>
                <a:spcPts val="1200"/>
              </a:spcBef>
              <a:spcAft>
                <a:spcPts val="0"/>
              </a:spcAft>
              <a:buNone/>
            </a:pPr>
            <a:r>
              <a:rPr lang="ja"/>
              <a:t>正規</a:t>
            </a:r>
            <a:r>
              <a:rPr lang="ja"/>
              <a:t>分布・・・おなじみの山。</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摂動の分布となる分布が正規分布なのがポイント。</a:t>
            </a:r>
            <a:br>
              <a:rPr lang="ja"/>
            </a:br>
            <a:r>
              <a:rPr lang="ja"/>
              <a:t>正規分布はラプラス分布に比べて裾の減衰スピードが早い。よって、大きな外れ値になることはほとんどない。</a:t>
            </a:r>
            <a:br>
              <a:rPr lang="ja"/>
            </a:br>
            <a:r>
              <a:rPr lang="ja"/>
              <a:t>ラプラス分布はe^|-x|、正規分布はe^(-x^2)の減衰。つまり、二乗のスピードで減衰するんで外れ値率は減るよねと。</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ということは・・・近似的差分プライバシーでは、プライバシー保護に失敗する確率（ノイズではなく外れ値と断定される確率）がある。その確率がδとなる。</a:t>
            </a:r>
            <a:endParaRPr/>
          </a:p>
          <a:p>
            <a:pPr indent="0" lvl="0" marL="0" rtl="0" algn="l">
              <a:spcBef>
                <a:spcPts val="1200"/>
              </a:spcBef>
              <a:spcAft>
                <a:spcPts val="0"/>
              </a:spcAft>
              <a:buNone/>
            </a:pPr>
            <a:r>
              <a:rPr lang="ja"/>
              <a:t>なぜかといえば、摂動の外れ値が大きくなる確率は極端に低い、つまり保護対象のデータの外れ値が極端だと、それは摂動によるものではないと断定されるから。</a:t>
            </a:r>
            <a:endParaRPr/>
          </a:p>
          <a:p>
            <a:pPr indent="0" lvl="0" marL="0" rtl="0" algn="l">
              <a:spcBef>
                <a:spcPts val="1200"/>
              </a:spcBef>
              <a:spcAft>
                <a:spcPts val="1200"/>
              </a:spcAft>
              <a:buNone/>
            </a:pPr>
            <a:r>
              <a:rPr lang="ja"/>
              <a:t>ここの摂動Yの決め方ってのは次頁で。</a:t>
            </a:r>
            <a:endParaRPr/>
          </a:p>
        </p:txBody>
      </p:sp>
      <p:pic>
        <p:nvPicPr>
          <p:cNvPr id="139" name="Google Shape;139;p26"/>
          <p:cNvPicPr preferRelativeResize="0"/>
          <p:nvPr/>
        </p:nvPicPr>
        <p:blipFill>
          <a:blip r:embed="rId3">
            <a:alphaModFix/>
          </a:blip>
          <a:stretch>
            <a:fillRect/>
          </a:stretch>
        </p:blipFill>
        <p:spPr>
          <a:xfrm>
            <a:off x="4842300" y="1152475"/>
            <a:ext cx="3715874" cy="20901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7"/>
          <p:cNvPicPr preferRelativeResize="0"/>
          <p:nvPr/>
        </p:nvPicPr>
        <p:blipFill>
          <a:blip r:embed="rId3">
            <a:alphaModFix/>
          </a:blip>
          <a:stretch>
            <a:fillRect/>
          </a:stretch>
        </p:blipFill>
        <p:spPr>
          <a:xfrm>
            <a:off x="6172769" y="1249583"/>
            <a:ext cx="2747599" cy="1899618"/>
          </a:xfrm>
          <a:prstGeom prst="rect">
            <a:avLst/>
          </a:prstGeom>
          <a:noFill/>
          <a:ln>
            <a:noFill/>
          </a:ln>
        </p:spPr>
      </p:pic>
      <p:sp>
        <p:nvSpPr>
          <p:cNvPr id="145" name="Google Shape;14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ja"/>
              <a:t>差分プライバシーのメカニズム </a:t>
            </a:r>
            <a:r>
              <a:rPr lang="ja"/>
              <a:t>ガウシアン</a:t>
            </a:r>
            <a:r>
              <a:rPr lang="ja"/>
              <a:t>メカニズム</a:t>
            </a:r>
            <a:endParaRPr/>
          </a:p>
        </p:txBody>
      </p:sp>
      <p:sp>
        <p:nvSpPr>
          <p:cNvPr id="146" name="Google Shape;146;p27"/>
          <p:cNvSpPr txBox="1"/>
          <p:nvPr>
            <p:ph idx="1" type="body"/>
          </p:nvPr>
        </p:nvSpPr>
        <p:spPr>
          <a:xfrm>
            <a:off x="311700" y="1152475"/>
            <a:ext cx="8409900" cy="38526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ja" sz="2787"/>
              <a:t>摂動Yのきまり方</a:t>
            </a:r>
            <a:endParaRPr sz="2787"/>
          </a:p>
          <a:p>
            <a:pPr indent="0" lvl="0" marL="0" rtl="0" algn="l">
              <a:spcBef>
                <a:spcPts val="1200"/>
              </a:spcBef>
              <a:spcAft>
                <a:spcPts val="0"/>
              </a:spcAft>
              <a:buNone/>
            </a:pPr>
            <a:r>
              <a:rPr lang="ja" sz="2147"/>
              <a:t>Y ~ N(0, </a:t>
            </a:r>
            <a:r>
              <a:rPr lang="ja" sz="2147"/>
              <a:t>σ^2</a:t>
            </a:r>
            <a:r>
              <a:rPr lang="ja" sz="2147"/>
              <a:t>)</a:t>
            </a:r>
            <a:endParaRPr sz="2147"/>
          </a:p>
          <a:p>
            <a:pPr indent="0" lvl="0" marL="0" rtl="0" algn="l">
              <a:spcBef>
                <a:spcPts val="1200"/>
              </a:spcBef>
              <a:spcAft>
                <a:spcPts val="0"/>
              </a:spcAft>
              <a:buNone/>
            </a:pPr>
            <a:r>
              <a:rPr lang="ja" sz="2147"/>
              <a:t>Yは期待値0、</a:t>
            </a:r>
            <a:r>
              <a:rPr lang="ja" sz="2147"/>
              <a:t>分散σ^2</a:t>
            </a:r>
            <a:r>
              <a:rPr lang="ja" sz="2147"/>
              <a:t>となる</a:t>
            </a:r>
            <a:r>
              <a:rPr lang="ja" sz="2147"/>
              <a:t>正規</a:t>
            </a:r>
            <a:r>
              <a:rPr lang="ja" sz="2147"/>
              <a:t>分布に</a:t>
            </a:r>
            <a:r>
              <a:rPr lang="ja" sz="2147"/>
              <a:t>従い、その分布から</a:t>
            </a:r>
            <a:r>
              <a:rPr lang="ja" sz="2147"/>
              <a:t>乱数で拾う。</a:t>
            </a:r>
            <a:endParaRPr sz="2147"/>
          </a:p>
          <a:p>
            <a:pPr indent="0" lvl="0" marL="0" rtl="0" algn="l">
              <a:spcBef>
                <a:spcPts val="1200"/>
              </a:spcBef>
              <a:spcAft>
                <a:spcPts val="0"/>
              </a:spcAft>
              <a:buClr>
                <a:schemeClr val="dk1"/>
              </a:buClr>
              <a:buSzPct val="54385"/>
              <a:buFont typeface="Arial"/>
              <a:buNone/>
            </a:pPr>
            <a:r>
              <a:rPr lang="ja" sz="2023"/>
              <a:t>σ ≈</a:t>
            </a:r>
            <a:r>
              <a:rPr lang="ja" sz="2023"/>
              <a:t> Δ2f / ε × √2 × loge (1.25 / δ)</a:t>
            </a:r>
            <a:endParaRPr sz="2147"/>
          </a:p>
          <a:p>
            <a:pPr indent="0" lvl="0" marL="0" rtl="0" algn="l">
              <a:spcBef>
                <a:spcPts val="1200"/>
              </a:spcBef>
              <a:spcAft>
                <a:spcPts val="0"/>
              </a:spcAft>
              <a:buNone/>
            </a:pPr>
            <a:r>
              <a:rPr lang="ja"/>
              <a:t>σ・・・スケールという値。これの</a:t>
            </a:r>
            <a:r>
              <a:rPr lang="ja"/>
              <a:t>二乗値</a:t>
            </a:r>
            <a:r>
              <a:rPr lang="ja"/>
              <a:t>を</a:t>
            </a:r>
            <a:r>
              <a:rPr lang="ja"/>
              <a:t>正規</a:t>
            </a:r>
            <a:r>
              <a:rPr lang="ja"/>
              <a:t>分布の分散としてYを決める。</a:t>
            </a:r>
            <a:br>
              <a:rPr lang="ja"/>
            </a:br>
            <a:r>
              <a:rPr lang="ja"/>
              <a:t>σが大きい→裾が盛り上がっている、計算結果の精度が担保されない。</a:t>
            </a:r>
            <a:br>
              <a:rPr lang="ja"/>
            </a:br>
            <a:r>
              <a:rPr lang="ja"/>
              <a:t>σが小さい→裾が低い、摂動Yも小さくプライバシーはそんな保護されない。</a:t>
            </a:r>
            <a:endParaRPr/>
          </a:p>
          <a:p>
            <a:pPr indent="0" lvl="0" marL="0" rtl="0" algn="l">
              <a:spcBef>
                <a:spcPts val="1200"/>
              </a:spcBef>
              <a:spcAft>
                <a:spcPts val="0"/>
              </a:spcAft>
              <a:buNone/>
            </a:pPr>
            <a:r>
              <a:rPr lang="ja"/>
              <a:t>δ・・・</a:t>
            </a:r>
            <a:r>
              <a:rPr lang="ja"/>
              <a:t>プライバシー保護に失敗する確率。これはユーザーが決める。鉄則として、δ≪1 / nとなる。10^(-5)とか。</a:t>
            </a:r>
            <a:endParaRPr/>
          </a:p>
          <a:p>
            <a:pPr indent="0" lvl="0" marL="0" rtl="0" algn="l">
              <a:spcBef>
                <a:spcPts val="1200"/>
              </a:spcBef>
              <a:spcAft>
                <a:spcPts val="0"/>
              </a:spcAft>
              <a:buNone/>
            </a:pPr>
            <a:r>
              <a:rPr lang="ja"/>
              <a:t>ε・・・ユーザーが指定するプライバシー予算。ガードの硬さ。</a:t>
            </a:r>
            <a:br>
              <a:rPr lang="ja"/>
            </a:br>
            <a:r>
              <a:rPr lang="ja"/>
              <a:t>0.01ならめちゃ硬いがスケールが大きくなる。100ならめちゃ緩いがスケールは小さくなる。</a:t>
            </a:r>
            <a:endParaRPr/>
          </a:p>
          <a:p>
            <a:pPr indent="0" lvl="0" marL="0" rtl="0" algn="l">
              <a:spcBef>
                <a:spcPts val="1200"/>
              </a:spcBef>
              <a:spcAft>
                <a:spcPts val="1200"/>
              </a:spcAft>
              <a:buNone/>
            </a:pPr>
            <a:r>
              <a:rPr lang="ja"/>
              <a:t>Δ2f・・・計算するデータの動揺しやすさ。L2</a:t>
            </a:r>
            <a:r>
              <a:rPr lang="ja"/>
              <a:t>感度といい、ユークリッド距離を指し、1つのデータが抜けた時の二乗和のルート。</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311700" y="204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ja"/>
              <a:t>差分プライバシーのメカニズム </a:t>
            </a:r>
            <a:r>
              <a:rPr lang="ja"/>
              <a:t>ガウシアン</a:t>
            </a:r>
            <a:r>
              <a:rPr lang="ja"/>
              <a:t>メカニズム</a:t>
            </a:r>
            <a:endParaRPr/>
          </a:p>
        </p:txBody>
      </p:sp>
      <p:sp>
        <p:nvSpPr>
          <p:cNvPr id="152" name="Google Shape;152;p28"/>
          <p:cNvSpPr txBox="1"/>
          <p:nvPr>
            <p:ph idx="1" type="body"/>
          </p:nvPr>
        </p:nvSpPr>
        <p:spPr>
          <a:xfrm>
            <a:off x="311700" y="894525"/>
            <a:ext cx="8520600" cy="41286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ja"/>
              <a:t>具体例</a:t>
            </a:r>
            <a:endParaRPr/>
          </a:p>
          <a:p>
            <a:pPr indent="0" lvl="0" marL="0" rtl="0" algn="l">
              <a:spcBef>
                <a:spcPts val="1200"/>
              </a:spcBef>
              <a:spcAft>
                <a:spcPts val="0"/>
              </a:spcAft>
              <a:buNone/>
            </a:pPr>
            <a:r>
              <a:rPr lang="ja"/>
              <a:t>ある病院の患者1000人の身長と体重の平均値の差分プライバシー（統計量）</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身長最大値が195（平均＋23）とする。体重最大値が93（平均＋23）とする。</a:t>
            </a:r>
            <a:r>
              <a:rPr lang="ja"/>
              <a:t>(患者A)</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患者Aが退院時の</a:t>
            </a:r>
            <a:r>
              <a:rPr lang="ja"/>
              <a:t>平均値への影響Δ2f = √(23 / 1000)^2 + (23 / 1000)^2 </a:t>
            </a:r>
            <a:r>
              <a:rPr lang="ja" sz="2948"/>
              <a:t>≈</a:t>
            </a:r>
            <a:r>
              <a:rPr lang="ja"/>
              <a:t> 0.0325となる</a:t>
            </a:r>
            <a:br>
              <a:rPr lang="ja"/>
            </a:br>
            <a:r>
              <a:rPr lang="ja"/>
              <a:t>がっちり守りたいので、ε = 0.1とする</a:t>
            </a:r>
            <a:br>
              <a:rPr lang="ja"/>
            </a:br>
            <a:r>
              <a:rPr lang="ja"/>
              <a:t>δは</a:t>
            </a:r>
            <a:r>
              <a:rPr lang="ja"/>
              <a:t>通例の如く10^-5。</a:t>
            </a:r>
            <a:br>
              <a:rPr lang="ja"/>
            </a:br>
            <a:r>
              <a:rPr lang="ja"/>
              <a:t>スケール σ = 0.0325 / 0.1 × √2 × loge (1.25/0.00001) </a:t>
            </a:r>
            <a:r>
              <a:rPr lang="ja" sz="2948"/>
              <a:t>≈ </a:t>
            </a:r>
            <a:r>
              <a:rPr lang="ja"/>
              <a:t>1.57</a:t>
            </a:r>
            <a:endParaRPr/>
          </a:p>
          <a:p>
            <a:pPr indent="0" lvl="0" marL="0" rtl="0" algn="l">
              <a:spcBef>
                <a:spcPts val="1200"/>
              </a:spcBef>
              <a:spcAft>
                <a:spcPts val="0"/>
              </a:spcAft>
              <a:buNone/>
            </a:pPr>
            <a:r>
              <a:rPr lang="ja"/>
              <a:t>摂動Yは（0，1.57）の</a:t>
            </a:r>
            <a:r>
              <a:rPr lang="ja"/>
              <a:t>正規</a:t>
            </a:r>
            <a:r>
              <a:rPr lang="ja"/>
              <a:t>分布に従った乱数を取り、身長は-1.85、体重は-</a:t>
            </a:r>
            <a:r>
              <a:rPr lang="ja"/>
              <a:t>0.62</a:t>
            </a:r>
            <a:r>
              <a:rPr lang="ja"/>
              <a:t>とする。</a:t>
            </a:r>
            <a:br>
              <a:rPr lang="ja"/>
            </a:br>
            <a:r>
              <a:rPr lang="ja"/>
              <a:t>身長の出力値 172 - 1.85 = 170.15となる。</a:t>
            </a:r>
            <a:br>
              <a:rPr lang="ja"/>
            </a:br>
            <a:r>
              <a:rPr lang="ja"/>
              <a:t>体重の出力値 70 - 0.62 = 69.38となる。</a:t>
            </a:r>
            <a:endParaRPr/>
          </a:p>
          <a:p>
            <a:pPr indent="0" lvl="0" marL="0" rtl="0" algn="l">
              <a:spcBef>
                <a:spcPts val="1200"/>
              </a:spcBef>
              <a:spcAft>
                <a:spcPts val="1200"/>
              </a:spcAft>
              <a:buNone/>
            </a:pPr>
            <a:r>
              <a:rPr lang="ja"/>
              <a:t>これが要は身長最大値の人が抜けたから平均値が-1.85なのか、差分プライバシーの摂動で-1.85なのか判別できなければOK。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パラメータやメカニズムが及ぼす安全性と</a:t>
            </a:r>
            <a:r>
              <a:rPr lang="ja"/>
              <a:t>精度</a:t>
            </a:r>
            <a:r>
              <a:rPr lang="ja"/>
              <a:t>への影響</a:t>
            </a:r>
            <a:endParaRPr/>
          </a:p>
        </p:txBody>
      </p:sp>
      <p:sp>
        <p:nvSpPr>
          <p:cNvPr id="158" name="Google Shape;158;p29"/>
          <p:cNvSpPr txBox="1"/>
          <p:nvPr>
            <p:ph idx="1" type="body"/>
          </p:nvPr>
        </p:nvSpPr>
        <p:spPr>
          <a:xfrm>
            <a:off x="311700" y="1152475"/>
            <a:ext cx="8520600" cy="3827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ja"/>
              <a:t>パラメータ</a:t>
            </a:r>
            <a:endParaRPr/>
          </a:p>
          <a:p>
            <a:pPr indent="0" lvl="0" marL="0" rtl="0" algn="l">
              <a:spcBef>
                <a:spcPts val="1200"/>
              </a:spcBef>
              <a:spcAft>
                <a:spcPts val="0"/>
              </a:spcAft>
              <a:buNone/>
            </a:pPr>
            <a:r>
              <a:rPr lang="ja"/>
              <a:t>プライバシー予算εは、1未満で小さければ小さいほど摂動が大きくなる。</a:t>
            </a:r>
            <a:br>
              <a:rPr lang="ja"/>
            </a:br>
            <a:r>
              <a:rPr lang="ja"/>
              <a:t>→ここはデータの性質等様々な要因に応じて調整しなければならない。</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a:t>メカニズム</a:t>
            </a:r>
            <a:endParaRPr/>
          </a:p>
          <a:p>
            <a:pPr indent="0" lvl="0" marL="0" rtl="0" algn="l">
              <a:spcBef>
                <a:spcPts val="1200"/>
              </a:spcBef>
              <a:spcAft>
                <a:spcPts val="0"/>
              </a:spcAft>
              <a:buNone/>
            </a:pPr>
            <a:r>
              <a:rPr lang="ja"/>
              <a:t>扱うデータの</a:t>
            </a:r>
            <a:r>
              <a:rPr b="1" lang="ja"/>
              <a:t>次元数に応じて良し悪しが変わる。</a:t>
            </a:r>
            <a:br>
              <a:rPr lang="ja"/>
            </a:br>
            <a:r>
              <a:rPr lang="ja"/>
              <a:t>今回の2次元だと、身長-0.52だったラプラスは安全性も</a:t>
            </a:r>
            <a:r>
              <a:rPr lang="ja"/>
              <a:t>精度</a:t>
            </a:r>
            <a:r>
              <a:rPr lang="ja"/>
              <a:t>も程よい。逆にガウシアンは-1.85と安全性はいいが、</a:t>
            </a:r>
            <a:r>
              <a:rPr lang="ja"/>
              <a:t>精度</a:t>
            </a:r>
            <a:r>
              <a:rPr lang="ja"/>
              <a:t>が致命的。</a:t>
            </a:r>
            <a:br>
              <a:rPr lang="ja"/>
            </a:br>
            <a:r>
              <a:rPr lang="ja"/>
              <a:t>→これはΔf、Δ2fの大きさが影響。2次元だとユークリッド距離よりマンハッタン距離のほうが良い。</a:t>
            </a:r>
            <a:br>
              <a:rPr lang="ja"/>
            </a:br>
            <a:r>
              <a:rPr lang="ja"/>
              <a:t>よって、低次元ならラプラスメカニズムのほうがよい。</a:t>
            </a:r>
            <a:endParaRPr/>
          </a:p>
          <a:p>
            <a:pPr indent="0" lvl="0" marL="0" rtl="0" algn="l">
              <a:spcBef>
                <a:spcPts val="1200"/>
              </a:spcBef>
              <a:spcAft>
                <a:spcPts val="1200"/>
              </a:spcAft>
              <a:buNone/>
            </a:pPr>
            <a:r>
              <a:rPr b="1" lang="ja"/>
              <a:t>ディープラーニング・機械学習など扱うデータが多次元になればなるほどガウシアンメカニズムのほうが安全性・</a:t>
            </a:r>
            <a:r>
              <a:rPr b="1" lang="ja"/>
              <a:t>精度</a:t>
            </a:r>
            <a:r>
              <a:rPr b="1" lang="ja"/>
              <a:t>ともによい。</a:t>
            </a:r>
            <a:br>
              <a:rPr lang="ja"/>
            </a:br>
            <a:r>
              <a:rPr lang="ja"/>
              <a:t>→多次元だとユークリッド距離のほうがΔf、Δf2値の増加を抑えられるから。</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